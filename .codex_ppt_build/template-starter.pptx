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61b5f746eb4b38" /><Relationship Type="http://schemas.openxmlformats.org/officeDocument/2006/relationships/extended-properties" Target="/docProps/app.xml" Id="Rf10d713c66f14d79" /><Relationship Type="http://schemas.openxmlformats.org/officeDocument/2006/relationships/officeDocument" Target="/ppt/presentation.xml" Id="R0ebdba5eb86e41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19375f141c49aa"/>
  </p:sldMasterIdLst>
  <p:notesMasterIdLst>
    <p:notesMasterId xmlns:r="http://schemas.openxmlformats.org/officeDocument/2006/relationships" r:id="R3d56d076a2984221"/>
  </p:notesMasterIdLst>
  <p:sldIdLst>
    <p:sldId xmlns:r="http://schemas.openxmlformats.org/officeDocument/2006/relationships" id="256" r:id="Rcf0f6c1951f24005"/>
    <p:sldId xmlns:r="http://schemas.openxmlformats.org/officeDocument/2006/relationships" id="257" r:id="R1730c9c5b1d345a2"/>
    <p:sldId xmlns:r="http://schemas.openxmlformats.org/officeDocument/2006/relationships" id="258" r:id="R3664033474c344f6"/>
    <p:sldId xmlns:r="http://schemas.openxmlformats.org/officeDocument/2006/relationships" id="259" r:id="R02b395a5d7544c4b"/>
    <p:sldId xmlns:r="http://schemas.openxmlformats.org/officeDocument/2006/relationships" id="260" r:id="R30517cd5b63242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89e48eefd046b6" /><Relationship Type="http://schemas.openxmlformats.org/officeDocument/2006/relationships/slideMaster" Target="/ppt/slideMasters/slideMaster1.xml" Id="R6d19375f141c49aa" /><Relationship Type="http://schemas.openxmlformats.org/officeDocument/2006/relationships/notesMaster" Target="/ppt/notesMasters/notesMaster1.xml" Id="R3d56d076a2984221" /><Relationship Type="http://schemas.openxmlformats.org/officeDocument/2006/relationships/presProps" Target="/ppt/presProps.xml" Id="R2dbe2cd3164849aa" /><Relationship Type="http://schemas.openxmlformats.org/officeDocument/2006/relationships/viewProps" Target="/ppt/viewProps.xml" Id="R799db420f82943d3" /><Relationship Type="http://schemas.openxmlformats.org/officeDocument/2006/relationships/tableStyles" Target="/ppt/tableStyles.xml" Id="R9c2792c1577246df" /><Relationship Type="http://schemas.openxmlformats.org/officeDocument/2006/relationships/slide" Target="/ppt/slides/slide1.xml" Id="Rcf0f6c1951f24005" /><Relationship Type="http://schemas.openxmlformats.org/officeDocument/2006/relationships/slide" Target="/ppt/slides/slide2.xml" Id="R1730c9c5b1d345a2" /><Relationship Type="http://schemas.openxmlformats.org/officeDocument/2006/relationships/slide" Target="/ppt/slides/slide3.xml" Id="R3664033474c344f6" /><Relationship Type="http://schemas.openxmlformats.org/officeDocument/2006/relationships/slide" Target="/ppt/slides/slide4.xml" Id="R02b395a5d7544c4b" /><Relationship Type="http://schemas.openxmlformats.org/officeDocument/2006/relationships/slide" Target="/ppt/slides/slide5.xml" Id="R30517cd5b63242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187c4e54c24e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0538767c9943f8" /><Relationship Type="http://schemas.openxmlformats.org/officeDocument/2006/relationships/notesMaster" Target="/ppt/notesMasters/notesMaster1.xml" Id="Ra69eddb6f75b42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425f4ddb784275" /><Relationship Type="http://schemas.openxmlformats.org/officeDocument/2006/relationships/notesMaster" Target="/ppt/notesMasters/notesMaster1.xml" Id="R5fe0fed7ccf847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cbd0a6decd46d7" /><Relationship Type="http://schemas.openxmlformats.org/officeDocument/2006/relationships/notesMaster" Target="/ppt/notesMasters/notesMaster1.xml" Id="R01b840ed348642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c0d4d4fe1f4881" /><Relationship Type="http://schemas.openxmlformats.org/officeDocument/2006/relationships/notesMaster" Target="/ppt/notesMasters/notesMaster1.xml" Id="R4ea41d9433d04f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c1f334b9074bff" /><Relationship Type="http://schemas.openxmlformats.org/officeDocument/2006/relationships/notesMaster" Target="/ppt/notesMasters/notesMaster1.xml" Id="Rd78e5458349a4d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b098cedf545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2b9b85f8a44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9fc27836245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17be0d19e849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77b1fc92f48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322a76cad4ea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20b08fdbdb41e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d778bf38d49b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3c81fe0581491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4b07b688c94a7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4f1eba6d7494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14F25EB-3E5B-7ADD-CAE2-3467CF06D6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24975FF-AD8C-C5E8-0689-BAF34FDE98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2CD2D6-1129-D01D-F4E3-FF990F3288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FC2B04B-1926-4561-9D6E-EA37BCD85A12}" type="datetimeFigureOut">
              <a:t>7/17/2026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84A53D-847D-929D-B75A-13055110C8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37598E-7B16-0593-514D-356EFA06DD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944BD9-ADC3-4296-B47D-5E4583C0854C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F089D9-59E9-0F09-A154-1792BEF76B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4F9513-186D-92E6-69EA-0917DCC1AD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6EE735-083D-6733-41D9-A314FF64FF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FC2B04B-1926-4561-9D6E-EA37BCD85A12}" type="datetimeFigureOut">
              <a:t>7/17/2026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DF922F-D14A-F997-123D-F07AE746BA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BA81B7-6FA4-309B-CB66-5B7339602A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944BD9-ADC3-4296-B47D-5E4583C0854C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9DFC9A-F1D6-84C4-504C-FBD98EC5B3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5CD443A-B765-7EF1-EA85-50FDD36053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4BC60C-C399-D026-9F49-BDAC5CA33D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FC2B04B-1926-4561-9D6E-EA37BCD85A12}" type="datetimeFigureOut">
              <a:t>7/17/2026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3FCE03-3946-A2E2-7DCE-54C3A10D5F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E6D3-C458-2974-9381-3E606976ED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944BD9-ADC3-4296-B47D-5E4583C0854C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83B2B1-2692-B3A0-8AF6-A80609C064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1BADB0-31CC-8656-3383-F328BDDEE3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2C9C91-5FC9-E8FB-4CA3-C4958496F2F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0E024F6-9031-FC33-B98B-8354287839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FC2B04B-1926-4561-9D6E-EA37BCD85A12}" type="datetimeFigureOut">
              <a:t>7/17/2026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28B34DB-FA03-A779-EFFB-BADBFAEAA8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1504EAE-0FBC-1785-DF4C-68D5B38E9D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944BD9-ADC3-4296-B47D-5E4583C0854C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B775E8-D7AA-B85D-BC60-879D7A3A35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82B5E71-11EE-5BB2-E6FD-30CBDC4F91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73667E1-297C-6A23-5947-4D6BE79474C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6228CB9-1448-C610-18C5-6E322F7530B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54EA498-1238-B897-89C7-E67B925478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16D2CF7-007D-6823-DE97-3396A3F163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FC2B04B-1926-4561-9D6E-EA37BCD85A12}" type="datetimeFigureOut">
              <a:t>7/17/2026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BC98B57-A790-D2D2-B8A2-05F6F06695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39EFAF6-0A85-F403-F67F-293F9824D3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944BD9-ADC3-4296-B47D-5E4583C0854C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A523A9-0C69-C6B5-2E58-E36BFC42F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E182882-238A-AC54-EFCF-4783F1C7D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FC2B04B-1926-4561-9D6E-EA37BCD85A12}" type="datetimeFigureOut">
              <a:t>7/17/2026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434E524-074C-72F9-8219-FBAAB2CB28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E2BC950-D3B2-1BD8-55C4-FBD2004805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944BD9-ADC3-4296-B47D-5E4583C0854C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0F7EBF1-7979-751A-A680-B70F32DBCE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FC2B04B-1926-4561-9D6E-EA37BCD85A12}" type="datetimeFigureOut">
              <a:t>7/17/2026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E20EB0C-BEBF-BD0A-A68C-14828F636D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A43FCFF-CF2D-96F8-856B-D8D1E73959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944BD9-ADC3-4296-B47D-5E4583C0854C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F3CBA7-0C34-67C0-DAE3-E250DD84E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4402714-22BF-6FDF-B9C2-16FE1F944EB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ADA3BC4-24BC-4B27-CD08-5446D54A1B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AA1F729-ED7A-73E9-131B-B83FA6A67F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FC2B04B-1926-4561-9D6E-EA37BCD85A12}" type="datetimeFigureOut">
              <a:t>7/17/2026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364DCC5-BB4C-DBC5-0631-F603D43FC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149FEF5-3874-8D64-988B-4C9DCC7FCD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944BD9-ADC3-4296-B47D-5E4583C0854C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2C427F-139E-FAB6-23F4-91A0BEE739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34F7D02-514D-DADB-29B6-947C4AADF32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199330-04FE-00D7-9F68-B90689DE24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32449B8-B186-8E62-6220-B706E7B53E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FC2B04B-1926-4561-9D6E-EA37BCD85A12}" type="datetimeFigureOut">
              <a:t>7/17/2026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A155FD3-F7FD-5BA3-0A80-D6C9016E2C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555E39E-A644-D115-280C-32335C4C22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944BD9-ADC3-4296-B47D-5E4583C0854C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16088F-F0AA-AECD-623F-A2DF6D0356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5BBE42-E292-9B2D-9C57-1AA3693BE4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7600B4F-F3BA-2DC7-E3AD-1A678BA4DF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FC2B04B-1926-4561-9D6E-EA37BCD85A12}" type="datetimeFigureOut">
              <a:t>7/17/2026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2D8289-21B7-5F6C-3D89-B19BCFE6C2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1D3F68-C4CE-D726-73C1-B4293A2746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944BD9-ADC3-4296-B47D-5E4583C0854C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5EABDD3-71BE-F1D0-7CAC-55D8FB5AD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9729795-A38A-DDB5-A796-E270187FF4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87D5F5-E969-CAA4-19E6-F86E805C53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FC2B04B-1926-4561-9D6E-EA37BCD85A12}" type="datetimeFigureOut">
              <a:t>7/17/2026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574340-EAEA-7A97-B1C1-EC0CB04A05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DE9149-D6F7-8827-6F3E-02E3F24283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944BD9-ADC3-4296-B47D-5E4583C0854C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2d0607e6b94392" /><Relationship Type="http://schemas.openxmlformats.org/officeDocument/2006/relationships/slideLayout" Target="/ppt/slideLayouts/slideLayout1.xml" Id="R12ace43945ef411e" /><Relationship Type="http://schemas.openxmlformats.org/officeDocument/2006/relationships/slideLayout" Target="/ppt/slideLayouts/slideLayout2.xml" Id="Ra8f9a0c9605a4c48" /><Relationship Type="http://schemas.openxmlformats.org/officeDocument/2006/relationships/slideLayout" Target="/ppt/slideLayouts/slideLayout3.xml" Id="R870a0b12bd664668" /><Relationship Type="http://schemas.openxmlformats.org/officeDocument/2006/relationships/slideLayout" Target="/ppt/slideLayouts/slideLayout4.xml" Id="Rd7f1762ffb6244d8" /><Relationship Type="http://schemas.openxmlformats.org/officeDocument/2006/relationships/slideLayout" Target="/ppt/slideLayouts/slideLayout5.xml" Id="R11d67bf2c7584a31" /><Relationship Type="http://schemas.openxmlformats.org/officeDocument/2006/relationships/slideLayout" Target="/ppt/slideLayouts/slideLayout6.xml" Id="Rf767a8d9be25476d" /><Relationship Type="http://schemas.openxmlformats.org/officeDocument/2006/relationships/slideLayout" Target="/ppt/slideLayouts/slideLayout7.xml" Id="R9c2783883f3e4343" /><Relationship Type="http://schemas.openxmlformats.org/officeDocument/2006/relationships/slideLayout" Target="/ppt/slideLayouts/slideLayout8.xml" Id="Ra1662d19634b4bdb" /><Relationship Type="http://schemas.openxmlformats.org/officeDocument/2006/relationships/slideLayout" Target="/ppt/slideLayouts/slideLayout9.xml" Id="Rfefd570fcfd640d3" /><Relationship Type="http://schemas.openxmlformats.org/officeDocument/2006/relationships/slideLayout" Target="/ppt/slideLayouts/slideLayout10.xml" Id="Rda0bd3305eef4ebe" /><Relationship Type="http://schemas.openxmlformats.org/officeDocument/2006/relationships/slideLayout" Target="/ppt/slideLayouts/slideLayout11.xml" Id="R90ac31bb28914e3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4B95C7C-B089-256E-BF3D-5BE1B6D48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DB8E90B-E3A8-D12D-9C85-8C12467CBB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341DF4-887E-77BA-474B-68BBB6DE90E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AFC2B04B-1926-4561-9D6E-EA37BCD85A12}" type="datetimeFigureOut">
              <a:t>7/17/2026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E153EC-490D-467B-B951-EADD4E7FAA8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77EF0E-30AD-1621-451C-2DB21FA9F4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1D944BD9-ADC3-4296-B47D-5E4583C0854C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ace43945ef411e"/>
    <p:sldLayoutId xmlns:r="http://schemas.openxmlformats.org/officeDocument/2006/relationships" id="2147483650" r:id="Ra8f9a0c9605a4c48"/>
    <p:sldLayoutId xmlns:r="http://schemas.openxmlformats.org/officeDocument/2006/relationships" id="2147483651" r:id="R870a0b12bd664668"/>
    <p:sldLayoutId xmlns:r="http://schemas.openxmlformats.org/officeDocument/2006/relationships" id="2147483652" r:id="Rd7f1762ffb6244d8"/>
    <p:sldLayoutId xmlns:r="http://schemas.openxmlformats.org/officeDocument/2006/relationships" id="2147483653" r:id="R11d67bf2c7584a31"/>
    <p:sldLayoutId xmlns:r="http://schemas.openxmlformats.org/officeDocument/2006/relationships" id="2147483654" r:id="Rf767a8d9be25476d"/>
    <p:sldLayoutId xmlns:r="http://schemas.openxmlformats.org/officeDocument/2006/relationships" id="2147483655" r:id="R9c2783883f3e4343"/>
    <p:sldLayoutId xmlns:r="http://schemas.openxmlformats.org/officeDocument/2006/relationships" id="2147483656" r:id="Ra1662d19634b4bdb"/>
    <p:sldLayoutId xmlns:r="http://schemas.openxmlformats.org/officeDocument/2006/relationships" id="2147483657" r:id="Rfefd570fcfd640d3"/>
    <p:sldLayoutId xmlns:r="http://schemas.openxmlformats.org/officeDocument/2006/relationships" id="2147483658" r:id="Rda0bd3305eef4ebe"/>
    <p:sldLayoutId xmlns:r="http://schemas.openxmlformats.org/officeDocument/2006/relationships" id="2147483659" r:id="R90ac31bb28914e3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491b20f0d486e" /><Relationship Type="http://schemas.openxmlformats.org/officeDocument/2006/relationships/notesSlide" Target="/ppt/notesSlides/notesSlide1.xml" Id="Rfcb4559bf8ca44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76734a2a24d4a" /><Relationship Type="http://schemas.openxmlformats.org/officeDocument/2006/relationships/notesSlide" Target="/ppt/notesSlides/notesSlide2.xml" Id="Rebcbe394a5424d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50ca9b03c4b6a" /><Relationship Type="http://schemas.openxmlformats.org/officeDocument/2006/relationships/notesSlide" Target="/ppt/notesSlides/notesSlide3.xml" Id="Rf125eacf628e46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f6dafae514411" /><Relationship Type="http://schemas.openxmlformats.org/officeDocument/2006/relationships/notesSlide" Target="/ppt/notesSlides/notesSlide4.xml" Id="R1412f3fed83143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9bb8d86684a28" /><Relationship Type="http://schemas.openxmlformats.org/officeDocument/2006/relationships/notesSlide" Target="/ppt/notesSlides/notesSlide5.xml" Id="R7677cb5aaa8143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FE9A7E5-A288-42CC-B6F5-D4AA376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70462" y="3259315"/>
            <a:ext cx="861453" cy="5089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lang="en-US" sz="2400" i="1"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e>
                    <m:sub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−1</m:t>
                      </m:r>
                    </m:sub>
                    <m:sup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∗</m:t>
                      </m:r>
                    </m:sup>
                  </m:sSubSup>
                </m:oMath>
              </m:oMathPara>
            </a14:m>
          </a:p>
        </p:txBody>
      </p:sp>
      <p:sp>
        <p:nvSpPr>
          <p:cNvPr id="4" name="Freeform: Shape 3">
            <a:extLst xmlns:a="http://schemas.openxmlformats.org/drawingml/2006/main">
              <a:ext uri="{FF2B5EF4-FFF2-40B4-BE49-F238E27FC236}">
                <a16:creationId xmlns:a16="http://schemas.microsoft.com/office/drawing/2014/main" id="{E9C8DEE0-7F4F-1C7C-33FC-AC476798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38340" y="1392399"/>
            <a:ext cx="3136392" cy="2862072"/>
          </a:xfrm>
          <a:custGeom xmlns:a="http://schemas.openxmlformats.org/drawingml/2006/main">
            <a:gdLst>
              <a:gd name="csX0" fmla="*/ 1078992 w 2935224"/>
              <a:gd name="csY0" fmla="*/ 374904 h 2660904"/>
              <a:gd name="csX1" fmla="*/ 384048 w 2935224"/>
              <a:gd name="csY1" fmla="*/ 685800 h 2660904"/>
              <a:gd name="csX2" fmla="*/ 9144 w 2935224"/>
              <a:gd name="csY2" fmla="*/ 1152144 h 2660904"/>
              <a:gd name="csX3" fmla="*/ 0 w 2935224"/>
              <a:gd name="csY3" fmla="*/ 1755648 h 2660904"/>
              <a:gd name="csX4" fmla="*/ 539496 w 2935224"/>
              <a:gd name="csY4" fmla="*/ 2066544 h 2660904"/>
              <a:gd name="csX5" fmla="*/ 768096 w 2935224"/>
              <a:gd name="csY5" fmla="*/ 2386584 h 2660904"/>
              <a:gd name="csX6" fmla="*/ 640080 w 2935224"/>
              <a:gd name="csY6" fmla="*/ 2542032 h 2660904"/>
              <a:gd name="csX7" fmla="*/ 859536 w 2935224"/>
              <a:gd name="csY7" fmla="*/ 2660904 h 2660904"/>
              <a:gd name="csX8" fmla="*/ 2084832 w 2935224"/>
              <a:gd name="csY8" fmla="*/ 2450592 h 2660904"/>
              <a:gd name="csX9" fmla="*/ 2743200 w 2935224"/>
              <a:gd name="csY9" fmla="*/ 1828800 h 2660904"/>
              <a:gd name="csX10" fmla="*/ 2935224 w 2935224"/>
              <a:gd name="csY10" fmla="*/ 1069848 h 2660904"/>
              <a:gd name="csX11" fmla="*/ 2715768 w 2935224"/>
              <a:gd name="csY11" fmla="*/ 493776 h 2660904"/>
              <a:gd name="csX12" fmla="*/ 2203704 w 2935224"/>
              <a:gd name="csY12" fmla="*/ 219456 h 2660904"/>
              <a:gd name="csX13" fmla="*/ 1682496 w 2935224"/>
              <a:gd name="csY13" fmla="*/ 0 h 2660904"/>
              <a:gd name="csX14" fmla="*/ 1298448 w 2935224"/>
              <a:gd name="csY14" fmla="*/ 27432 h 2660904"/>
              <a:gd name="csX15" fmla="*/ 1078992 w 2935224"/>
              <a:gd name="csY15" fmla="*/ 374904 h 2660904"/>
            </a:gdLst>
            <a:rect l="l" t="t" r="r" b="b"/>
            <a:pathLst>
              <a:path w="2935224" h="2660904">
                <a:moveTo>
                  <a:pt x="1078992" y="374904"/>
                </a:moveTo>
                <a:lnTo>
                  <a:pt x="384048" y="685800"/>
                </a:lnTo>
                <a:lnTo>
                  <a:pt x="9144" y="1152144"/>
                </a:lnTo>
                <a:lnTo>
                  <a:pt x="0" y="1755648"/>
                </a:lnTo>
                <a:lnTo>
                  <a:pt x="539496" y="2066544"/>
                </a:lnTo>
                <a:lnTo>
                  <a:pt x="768096" y="2386584"/>
                </a:lnTo>
                <a:lnTo>
                  <a:pt x="640080" y="2542032"/>
                </a:lnTo>
                <a:lnTo>
                  <a:pt x="859536" y="2660904"/>
                </a:lnTo>
                <a:lnTo>
                  <a:pt x="2084832" y="2450592"/>
                </a:lnTo>
                <a:lnTo>
                  <a:pt x="2743200" y="1828800"/>
                </a:lnTo>
                <a:lnTo>
                  <a:pt x="2935224" y="1069848"/>
                </a:lnTo>
                <a:lnTo>
                  <a:pt x="2715768" y="493776"/>
                </a:lnTo>
                <a:lnTo>
                  <a:pt x="2203704" y="219456"/>
                </a:lnTo>
                <a:lnTo>
                  <a:pt x="1682496" y="0"/>
                </a:lnTo>
                <a:lnTo>
                  <a:pt x="1298448" y="27432"/>
                </a:lnTo>
                <a:lnTo>
                  <a:pt x="1078992" y="374904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1C6F2D50-1C22-528C-072B-50741F04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69760" y="3212055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92" name="Straight Connector 14"/>
          <p:cNvCxnSpPr>
            <a:stCxn xmlns:a="http://schemas.openxmlformats.org/drawingml/2006/main" id="4" idx="1"/>
          </p:cNvCxnSpPr>
          <p:nvPr/>
        </p:nvCxnSpPr>
        <p:spPr>
          <a:xfrm xmlns:a="http://schemas.openxmlformats.org/drawingml/2006/main" rot="0" flipH="1" flipV="0">
            <a:off x="3841711" y="2130045"/>
            <a:ext cx="6998" cy="1387189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5AFCDA4F-DA92-484E-8E9A-71914A07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260" y="1955136"/>
            <a:ext cx="0" cy="2233612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94" name="Straight Connector 17"/>
          <p:cNvCxnSpPr>
            <a:stCxn xmlns:a="http://schemas.openxmlformats.org/drawingml/2006/main" id="4" idx="0"/>
          </p:cNvCxnSpPr>
          <p:nvPr/>
        </p:nvCxnSpPr>
        <p:spPr>
          <a:xfrm xmlns:a="http://schemas.openxmlformats.org/drawingml/2006/main" rot="0" flipH="0" flipV="0">
            <a:off x="4591283" y="1795646"/>
            <a:ext cx="2527" cy="2419296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CA2C1589-1147-4010-A632-33EAF170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9269" y="1426499"/>
            <a:ext cx="0" cy="272653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8CDDB218-E3F2-4134-AECA-E3CC6EE4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26767" y="1426499"/>
            <a:ext cx="0" cy="2652712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03E27C2-E6CB-408C-B3FF-4C2F0F42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8363" y="1588423"/>
            <a:ext cx="0" cy="2390775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6D22249A-0C1C-48DD-A80B-04F499A7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7911" y="1802102"/>
            <a:ext cx="0" cy="181514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A3EDB549-6A20-4344-B0AB-783F3643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35286" y="2207211"/>
            <a:ext cx="0" cy="816494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100" name="Straight Connector 27"/>
          <p:cNvCxnSpPr>
            <a:endCxn xmlns:a="http://schemas.openxmlformats.org/drawingml/2006/main" id="4" idx="0"/>
          </p:cNvCxnSpPr>
          <p:nvPr/>
        </p:nvCxnSpPr>
        <p:spPr>
          <a:xfrm xmlns:a="http://schemas.openxmlformats.org/drawingml/2006/main" rot="16200000" flipH="1" flipV="1">
            <a:off x="3430690" y="2438854"/>
            <a:ext cx="1200596" cy="810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9" name="Straight Connector 28">
            <a:extLst xmlns:a="http://schemas.openxmlformats.org/drawingml/2006/main">
              <a:ext uri="{FF2B5EF4-FFF2-40B4-BE49-F238E27FC236}">
                <a16:creationId xmlns:a16="http://schemas.microsoft.com/office/drawing/2014/main" id="{46AB9BF7-37B5-4B32-9DAC-408CBE9C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 flipV="0">
            <a:off x="3364438" y="2683973"/>
            <a:ext cx="209824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B8D8B26C-88C7-479E-80CA-131A9571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 flipV="0">
            <a:off x="3562916" y="2821932"/>
            <a:ext cx="247214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8D13609E-A769-4ED3-8784-A1BA120D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 flipV="0">
            <a:off x="3983569" y="2876987"/>
            <a:ext cx="2388191" cy="2335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Straight Connector 31">
            <a:extLst xmlns:a="http://schemas.openxmlformats.org/drawingml/2006/main">
              <a:ext uri="{FF2B5EF4-FFF2-40B4-BE49-F238E27FC236}">
                <a16:creationId xmlns:a16="http://schemas.microsoft.com/office/drawing/2014/main" id="{3FB3490C-C375-4509-A6F1-0C4CEA45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 flipV="0">
            <a:off x="4594632" y="2803126"/>
            <a:ext cx="198864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Straight Connector 32">
            <a:extLst xmlns:a="http://schemas.openxmlformats.org/drawingml/2006/main">
              <a:ext uri="{FF2B5EF4-FFF2-40B4-BE49-F238E27FC236}">
                <a16:creationId xmlns:a16="http://schemas.microsoft.com/office/drawing/2014/main" id="{D32E467D-4F31-4B69-8306-33BD25CF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 flipV="0">
            <a:off x="5282127" y="2789148"/>
            <a:ext cx="133777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955991CD-8772-6E63-2929-7C350F05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4926" y="2975080"/>
            <a:ext cx="961224" cy="5411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78000"/>
            </a:schemeClr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lang="ar-AE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e>
                    <m:sub>
                      <m:r>
                        <a:rPr xmlns:a="http://schemas.openxmlformats.org/drawingml/2006/main" lang="ar-AE" sz="2400" b="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</m:sub>
                    <m:sup>
                      <m:r>
                        <a:rPr xmlns:a="http://schemas.openxmlformats.org/drawingml/2006/main" lang="en-US" sz="2400" b="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QHD</m:t>
                      </m:r>
                    </m:sup>
                  </m:sSubSup>
                </m:oMath>
              </m:oMathPara>
            </a14:m>
          </a:p>
        </p:txBody>
      </p:sp>
      <p:sp>
        <p:nvSpPr>
          <p:cNvPr id="74" name="Oval 73">
            <a:extLst xmlns:a="http://schemas.openxmlformats.org/drawingml/2006/main">
              <a:ext uri="{FF2B5EF4-FFF2-40B4-BE49-F238E27FC236}">
                <a16:creationId xmlns:a16="http://schemas.microsoft.com/office/drawing/2014/main" id="{FF2B25A4-516C-CAD6-0F05-30D5B448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55206" y="296140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F9A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08" name="Connector: Curved 75"/>
          <p:cNvCxnSpPr>
            <a:stCxn xmlns:a="http://schemas.openxmlformats.org/drawingml/2006/main" id="5" idx="7"/>
            <a:endCxn xmlns:a="http://schemas.openxmlformats.org/drawingml/2006/main" id="74" idx="4"/>
          </p:cNvCxnSpPr>
          <p:nvPr/>
        </p:nvCxnSpPr>
        <p:spPr>
          <a:xfrm xmlns:a="http://schemas.openxmlformats.org/drawingml/2006/main" rot="5400000" flipH="1" flipV="1">
            <a:off x="3788519" y="2796876"/>
            <a:ext cx="133580" cy="736953"/>
          </a:xfrm>
          <a:prstGeom xmlns:a="http://schemas.openxmlformats.org/drawingml/2006/main" prst="curvedConnector3">
            <a:avLst>
              <a:gd name="adj1" fmla="val -11800"/>
            </a:avLst>
          </a:prstGeom>
          <a:ln xmlns:a="http://schemas.openxmlformats.org/drawingml/2006/main">
            <a:solidFill>
              <a:srgbClr val="215F9A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2" name="Oval 81">
            <a:extLst xmlns:a="http://schemas.openxmlformats.org/drawingml/2006/main">
              <a:ext uri="{FF2B5EF4-FFF2-40B4-BE49-F238E27FC236}">
                <a16:creationId xmlns:a16="http://schemas.microsoft.com/office/drawing/2014/main" id="{289EC9F5-94D8-6A62-46CF-E051CD41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92727" y="2308903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75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43362088-2CDD-79D3-FA25-C9E52ED4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8608" y="1698942"/>
            <a:ext cx="892296" cy="4886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88000"/>
            </a:schemeClr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lang="ar-AE" sz="2400" i="1">
                          <a:solidFill>
                            <a:srgbClr val="3B7D23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e>
                    <m:sub>
                      <m:r>
                        <a:rPr xmlns:a="http://schemas.openxmlformats.org/drawingml/2006/main" lang="ar-AE" sz="2400" b="0" i="1">
                          <a:solidFill>
                            <a:srgbClr val="3B7D23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</m:sub>
                    <m:sup>
                      <m:r>
                        <a:rPr xmlns:a="http://schemas.openxmlformats.org/drawingml/2006/main" lang="en-US" sz="2400" b="0" i="1">
                          <a:solidFill>
                            <a:srgbClr val="3B7D23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CRF</m:t>
                      </m:r>
                    </m:sup>
                  </m:sSubSup>
                </m:oMath>
              </m:oMathPara>
            </a14:m>
          </a:p>
        </p:txBody>
      </p:sp>
      <p:cxnSp>
        <p:nvCxnSpPr>
          <p:cNvPr id="111" name="Connector: Curved 84"/>
          <p:cNvCxnSpPr>
            <a:stCxn xmlns:a="http://schemas.openxmlformats.org/drawingml/2006/main" id="74" idx="7"/>
            <a:endCxn xmlns:a="http://schemas.openxmlformats.org/drawingml/2006/main" id="82" idx="2"/>
          </p:cNvCxnSpPr>
          <p:nvPr/>
        </p:nvCxnSpPr>
        <p:spPr>
          <a:xfrm xmlns:a="http://schemas.openxmlformats.org/drawingml/2006/main" rot="5400000" flipH="1" flipV="1">
            <a:off x="4280500" y="2369262"/>
            <a:ext cx="604006" cy="620448"/>
          </a:xfrm>
          <a:prstGeom xmlns:a="http://schemas.openxmlformats.org/drawingml/2006/main" prst="curvedConnector2">
            <a:avLst/>
          </a:prstGeom>
          <a:ln xmlns:a="http://schemas.openxmlformats.org/drawingml/2006/main">
            <a:solidFill>
              <a:srgbClr val="3B7D23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0471F5B0-72ED-A9E4-01EA-E4691B2C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33386" y="1227924"/>
            <a:ext cx="16653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7F7F7F"/>
                </a:solidFill>
              </a:rPr>
              <a:t>Current box </a:t>
            </a: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i="1">
                          <a:solidFill>
                            <a:srgbClr val="7F7F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ℬ</m:t>
                      </m:r>
                    </m:e>
                    <m:sub>
                      <m:r>
                        <a:rPr xmlns:a="http://schemas.openxmlformats.org/drawingml/2006/main" lang="en-US" b="0" i="1">
                          <a:solidFill>
                            <a:srgbClr val="7F7F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</m:sub>
                  </m:sSub>
                </m:oMath>
              </m:oMathPara>
            </a14:m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3B4DA94-999E-1F23-FD31-6BE947FA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8711" y="4294862"/>
            <a:ext cx="313639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Nonconvex ACOPF Region</a:t>
            </a:r>
          </a:p>
        </p:txBody>
      </p:sp>
    </p:spTree>
    <p:extLst>
      <p:ext uri="{BB962C8B-B14F-4D97-AF65-F5344CB8AC3E}">
        <p14:creationId xmlns:p14="http://schemas.microsoft.com/office/powerpoint/2010/main" val="34118155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TextBox 98">
            <a:extLst xmlns:a="http://schemas.openxmlformats.org/drawingml/2006/main">
              <a:ext uri="{FF2B5EF4-FFF2-40B4-BE49-F238E27FC236}">
                <a16:creationId xmlns:a16="http://schemas.microsoft.com/office/drawing/2014/main" id="{02A66AAB-6807-7007-E2F7-99932B26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29255" y="3203400"/>
            <a:ext cx="861453" cy="5089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lang="en-US" sz="2400" i="1"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e>
                    <m:sub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∗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00" name="Freeform: Shape 99">
            <a:extLst xmlns:a="http://schemas.openxmlformats.org/drawingml/2006/main">
              <a:ext uri="{FF2B5EF4-FFF2-40B4-BE49-F238E27FC236}">
                <a16:creationId xmlns:a16="http://schemas.microsoft.com/office/drawing/2014/main" id="{6119498A-99C4-970F-6CEF-4CB1888A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97133" y="1336484"/>
            <a:ext cx="3136392" cy="2862072"/>
          </a:xfrm>
          <a:custGeom xmlns:a="http://schemas.openxmlformats.org/drawingml/2006/main">
            <a:gdLst>
              <a:gd name="csX0" fmla="*/ 1078992 w 2935224"/>
              <a:gd name="csY0" fmla="*/ 374904 h 2660904"/>
              <a:gd name="csX1" fmla="*/ 384048 w 2935224"/>
              <a:gd name="csY1" fmla="*/ 685800 h 2660904"/>
              <a:gd name="csX2" fmla="*/ 9144 w 2935224"/>
              <a:gd name="csY2" fmla="*/ 1152144 h 2660904"/>
              <a:gd name="csX3" fmla="*/ 0 w 2935224"/>
              <a:gd name="csY3" fmla="*/ 1755648 h 2660904"/>
              <a:gd name="csX4" fmla="*/ 539496 w 2935224"/>
              <a:gd name="csY4" fmla="*/ 2066544 h 2660904"/>
              <a:gd name="csX5" fmla="*/ 768096 w 2935224"/>
              <a:gd name="csY5" fmla="*/ 2386584 h 2660904"/>
              <a:gd name="csX6" fmla="*/ 640080 w 2935224"/>
              <a:gd name="csY6" fmla="*/ 2542032 h 2660904"/>
              <a:gd name="csX7" fmla="*/ 859536 w 2935224"/>
              <a:gd name="csY7" fmla="*/ 2660904 h 2660904"/>
              <a:gd name="csX8" fmla="*/ 2084832 w 2935224"/>
              <a:gd name="csY8" fmla="*/ 2450592 h 2660904"/>
              <a:gd name="csX9" fmla="*/ 2743200 w 2935224"/>
              <a:gd name="csY9" fmla="*/ 1828800 h 2660904"/>
              <a:gd name="csX10" fmla="*/ 2935224 w 2935224"/>
              <a:gd name="csY10" fmla="*/ 1069848 h 2660904"/>
              <a:gd name="csX11" fmla="*/ 2715768 w 2935224"/>
              <a:gd name="csY11" fmla="*/ 493776 h 2660904"/>
              <a:gd name="csX12" fmla="*/ 2203704 w 2935224"/>
              <a:gd name="csY12" fmla="*/ 219456 h 2660904"/>
              <a:gd name="csX13" fmla="*/ 1682496 w 2935224"/>
              <a:gd name="csY13" fmla="*/ 0 h 2660904"/>
              <a:gd name="csX14" fmla="*/ 1298448 w 2935224"/>
              <a:gd name="csY14" fmla="*/ 27432 h 2660904"/>
              <a:gd name="csX15" fmla="*/ 1078992 w 2935224"/>
              <a:gd name="csY15" fmla="*/ 374904 h 2660904"/>
            </a:gdLst>
            <a:rect l="l" t="t" r="r" b="b"/>
            <a:pathLst>
              <a:path w="2935224" h="2660904">
                <a:moveTo>
                  <a:pt x="1078992" y="374904"/>
                </a:moveTo>
                <a:lnTo>
                  <a:pt x="384048" y="685800"/>
                </a:lnTo>
                <a:lnTo>
                  <a:pt x="9144" y="1152144"/>
                </a:lnTo>
                <a:lnTo>
                  <a:pt x="0" y="1755648"/>
                </a:lnTo>
                <a:lnTo>
                  <a:pt x="539496" y="2066544"/>
                </a:lnTo>
                <a:lnTo>
                  <a:pt x="768096" y="2386584"/>
                </a:lnTo>
                <a:lnTo>
                  <a:pt x="640080" y="2542032"/>
                </a:lnTo>
                <a:lnTo>
                  <a:pt x="859536" y="2660904"/>
                </a:lnTo>
                <a:lnTo>
                  <a:pt x="2084832" y="2450592"/>
                </a:lnTo>
                <a:lnTo>
                  <a:pt x="2743200" y="1828800"/>
                </a:lnTo>
                <a:lnTo>
                  <a:pt x="2935224" y="1069848"/>
                </a:lnTo>
                <a:lnTo>
                  <a:pt x="2715768" y="493776"/>
                </a:lnTo>
                <a:lnTo>
                  <a:pt x="2203704" y="219456"/>
                </a:lnTo>
                <a:lnTo>
                  <a:pt x="1682496" y="0"/>
                </a:lnTo>
                <a:lnTo>
                  <a:pt x="1298448" y="27432"/>
                </a:lnTo>
                <a:lnTo>
                  <a:pt x="1078992" y="374904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Oval 100">
            <a:extLst xmlns:a="http://schemas.openxmlformats.org/drawingml/2006/main">
              <a:ext uri="{FF2B5EF4-FFF2-40B4-BE49-F238E27FC236}">
                <a16:creationId xmlns:a16="http://schemas.microsoft.com/office/drawing/2014/main" id="{EC2E72E5-CF8A-A32E-547C-4D9B4E62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553" y="315614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77" name="Straight Connector 110"/>
          <p:cNvCxnSpPr>
            <a:stCxn xmlns:a="http://schemas.openxmlformats.org/drawingml/2006/main" id="100" idx="1"/>
          </p:cNvCxnSpPr>
          <p:nvPr/>
        </p:nvCxnSpPr>
        <p:spPr>
          <a:xfrm xmlns:a="http://schemas.openxmlformats.org/drawingml/2006/main" rot="0" flipH="1" flipV="0">
            <a:off x="3100505" y="2074130"/>
            <a:ext cx="6998" cy="1387189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2" name="Straight Connector 111">
            <a:extLst xmlns:a="http://schemas.openxmlformats.org/drawingml/2006/main">
              <a:ext uri="{FF2B5EF4-FFF2-40B4-BE49-F238E27FC236}">
                <a16:creationId xmlns:a16="http://schemas.microsoft.com/office/drawing/2014/main" id="{36E98775-6161-48F6-957D-9294247F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0054" y="1899221"/>
            <a:ext cx="0" cy="2233612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179" name="Straight Connector 112"/>
          <p:cNvCxnSpPr>
            <a:stCxn xmlns:a="http://schemas.openxmlformats.org/drawingml/2006/main" id="100" idx="0"/>
          </p:cNvCxnSpPr>
          <p:nvPr/>
        </p:nvCxnSpPr>
        <p:spPr>
          <a:xfrm xmlns:a="http://schemas.openxmlformats.org/drawingml/2006/main" rot="0" flipH="0" flipV="0">
            <a:off x="3850077" y="1739731"/>
            <a:ext cx="2527" cy="2419296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4" name="Straight Connector 113">
            <a:extLst xmlns:a="http://schemas.openxmlformats.org/drawingml/2006/main">
              <a:ext uri="{FF2B5EF4-FFF2-40B4-BE49-F238E27FC236}">
                <a16:creationId xmlns:a16="http://schemas.microsoft.com/office/drawing/2014/main" id="{01043B83-03FC-4AB3-9A6C-DDA22840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18063" y="1370584"/>
            <a:ext cx="0" cy="272653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5" name="Straight Connector 114">
            <a:extLst xmlns:a="http://schemas.openxmlformats.org/drawingml/2006/main">
              <a:ext uri="{FF2B5EF4-FFF2-40B4-BE49-F238E27FC236}">
                <a16:creationId xmlns:a16="http://schemas.microsoft.com/office/drawing/2014/main" id="{53B2E84C-DC63-49EB-9C4A-187D18E4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5561" y="1370584"/>
            <a:ext cx="0" cy="2652712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6" name="Straight Connector 115">
            <a:extLst xmlns:a="http://schemas.openxmlformats.org/drawingml/2006/main">
              <a:ext uri="{FF2B5EF4-FFF2-40B4-BE49-F238E27FC236}">
                <a16:creationId xmlns:a16="http://schemas.microsoft.com/office/drawing/2014/main" id="{0CDEC934-21B9-4154-83E2-4EC9F4B0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7157" y="1532508"/>
            <a:ext cx="0" cy="2390775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7" name="Straight Connector 116">
            <a:extLst xmlns:a="http://schemas.openxmlformats.org/drawingml/2006/main">
              <a:ext uri="{FF2B5EF4-FFF2-40B4-BE49-F238E27FC236}">
                <a16:creationId xmlns:a16="http://schemas.microsoft.com/office/drawing/2014/main" id="{BB9A4B9A-D324-41A1-A2F4-8E71345A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56705" y="1746187"/>
            <a:ext cx="0" cy="1815147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8" name="Straight Connector 117">
            <a:extLst xmlns:a="http://schemas.openxmlformats.org/drawingml/2006/main">
              <a:ext uri="{FF2B5EF4-FFF2-40B4-BE49-F238E27FC236}">
                <a16:creationId xmlns:a16="http://schemas.microsoft.com/office/drawing/2014/main" id="{84862DA9-C277-4D08-8349-2AE7B36B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080" y="2151296"/>
            <a:ext cx="0" cy="816494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185" name="Straight Connector 104"/>
          <p:cNvCxnSpPr>
            <a:endCxn xmlns:a="http://schemas.openxmlformats.org/drawingml/2006/main" id="100" idx="0"/>
          </p:cNvCxnSpPr>
          <p:nvPr/>
        </p:nvCxnSpPr>
        <p:spPr>
          <a:xfrm xmlns:a="http://schemas.openxmlformats.org/drawingml/2006/main" rot="16200000" flipH="1" flipV="1">
            <a:off x="2689485" y="2382940"/>
            <a:ext cx="1200596" cy="8103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6" name="Straight Connector 105">
            <a:extLst xmlns:a="http://schemas.openxmlformats.org/drawingml/2006/main">
              <a:ext uri="{FF2B5EF4-FFF2-40B4-BE49-F238E27FC236}">
                <a16:creationId xmlns:a16="http://schemas.microsoft.com/office/drawing/2014/main" id="{22EE06C1-5171-4B5A-A3BC-BFB6A65F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 flipV="0">
            <a:off x="2623233" y="2628059"/>
            <a:ext cx="2098247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7" name="Straight Connector 106">
            <a:extLst xmlns:a="http://schemas.openxmlformats.org/drawingml/2006/main">
              <a:ext uri="{FF2B5EF4-FFF2-40B4-BE49-F238E27FC236}">
                <a16:creationId xmlns:a16="http://schemas.microsoft.com/office/drawing/2014/main" id="{D2E24AC1-E0E2-4DA4-ABDA-9FBF1B97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 flipV="0">
            <a:off x="2821711" y="2766018"/>
            <a:ext cx="247214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8" name="Straight Connector 107">
            <a:extLst xmlns:a="http://schemas.openxmlformats.org/drawingml/2006/main">
              <a:ext uri="{FF2B5EF4-FFF2-40B4-BE49-F238E27FC236}">
                <a16:creationId xmlns:a16="http://schemas.microsoft.com/office/drawing/2014/main" id="{AA1A3677-4BE4-4BD6-9024-13308932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 flipV="0">
            <a:off x="3242364" y="2821073"/>
            <a:ext cx="2388191" cy="2335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Straight Connector 108">
            <a:extLst xmlns:a="http://schemas.openxmlformats.org/drawingml/2006/main">
              <a:ext uri="{FF2B5EF4-FFF2-40B4-BE49-F238E27FC236}">
                <a16:creationId xmlns:a16="http://schemas.microsoft.com/office/drawing/2014/main" id="{5DA103D0-27E2-4A8A-8B96-D655395B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 flipV="0">
            <a:off x="3853427" y="2747212"/>
            <a:ext cx="198864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Straight Connector 109">
            <a:extLst xmlns:a="http://schemas.openxmlformats.org/drawingml/2006/main">
              <a:ext uri="{FF2B5EF4-FFF2-40B4-BE49-F238E27FC236}">
                <a16:creationId xmlns:a16="http://schemas.microsoft.com/office/drawing/2014/main" id="{BBEA2E33-2FB4-4E66-817C-A338C8F5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 flipV="0">
            <a:off x="4540922" y="2733234"/>
            <a:ext cx="1337777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Oval 92">
            <a:extLst xmlns:a="http://schemas.openxmlformats.org/drawingml/2006/main">
              <a:ext uri="{FF2B5EF4-FFF2-40B4-BE49-F238E27FC236}">
                <a16:creationId xmlns:a16="http://schemas.microsoft.com/office/drawing/2014/main" id="{D7A69EBD-480E-40A0-F687-78989407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13999" y="2905487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F9A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92" name="Connector: Curved 93"/>
          <p:cNvCxnSpPr>
            <a:stCxn xmlns:a="http://schemas.openxmlformats.org/drawingml/2006/main" id="101" idx="7"/>
            <a:endCxn xmlns:a="http://schemas.openxmlformats.org/drawingml/2006/main" id="93" idx="4"/>
          </p:cNvCxnSpPr>
          <p:nvPr/>
        </p:nvCxnSpPr>
        <p:spPr>
          <a:xfrm xmlns:a="http://schemas.openxmlformats.org/drawingml/2006/main" rot="5400000" flipH="1" flipV="1">
            <a:off x="3047312" y="2740961"/>
            <a:ext cx="133580" cy="736953"/>
          </a:xfrm>
          <a:prstGeom xmlns:a="http://schemas.openxmlformats.org/drawingml/2006/main" prst="curvedConnector3">
            <a:avLst>
              <a:gd name="adj1" fmla="val -11800"/>
            </a:avLst>
          </a:prstGeom>
          <a:ln xmlns:a="http://schemas.openxmlformats.org/drawingml/2006/main">
            <a:solidFill>
              <a:srgbClr val="215F9A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5" name="Oval 94">
            <a:extLst xmlns:a="http://schemas.openxmlformats.org/drawingml/2006/main">
              <a:ext uri="{FF2B5EF4-FFF2-40B4-BE49-F238E27FC236}">
                <a16:creationId xmlns:a16="http://schemas.microsoft.com/office/drawing/2014/main" id="{D0A8F54B-5397-1F8C-D5E4-1F0AEE24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49437" y="2284347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75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94" name="Connector: Curved 96"/>
          <p:cNvCxnSpPr>
            <a:stCxn xmlns:a="http://schemas.openxmlformats.org/drawingml/2006/main" id="93" idx="7"/>
            <a:endCxn xmlns:a="http://schemas.openxmlformats.org/drawingml/2006/main" id="95" idx="2"/>
          </p:cNvCxnSpPr>
          <p:nvPr/>
        </p:nvCxnSpPr>
        <p:spPr>
          <a:xfrm xmlns:a="http://schemas.openxmlformats.org/drawingml/2006/main" rot="5400000" flipH="1" flipV="1">
            <a:off x="3553931" y="2330069"/>
            <a:ext cx="572647" cy="618365"/>
          </a:xfrm>
          <a:prstGeom xmlns:a="http://schemas.openxmlformats.org/drawingml/2006/main" prst="curvedConnector2">
            <a:avLst/>
          </a:prstGeom>
          <a:ln xmlns:a="http://schemas.openxmlformats.org/drawingml/2006/main">
            <a:solidFill>
              <a:srgbClr val="3B7D23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1" name="TextBox 150">
            <a:extLst xmlns:a="http://schemas.openxmlformats.org/drawingml/2006/main">
              <a:ext uri="{FF2B5EF4-FFF2-40B4-BE49-F238E27FC236}">
                <a16:creationId xmlns:a16="http://schemas.microsoft.com/office/drawing/2014/main" id="{13A224D4-FA5F-0C6C-0B78-EF80CF56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65713" y="4253486"/>
            <a:ext cx="307058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ℬ</m:t>
                      </m:r>
                    </m:e>
                    <m:sub>
                      <m:r>
                        <a:rPr xmlns:a="http://schemas.openxmlformats.org/drawingml/2006/main" lang="en-US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  <m:r>
                        <a:rPr xmlns:a="http://schemas.openxmlformats.org/drawingml/2006/main" lang="en-US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xmlns:a="http://schemas.openxmlformats.org/drawingml/2006/main" lang="en-US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sub>
                  </m:sSub>
                  <m:r>
                    <a:rPr xmlns:a="http://schemas.openxmlformats.org/drawingml/2006/main" lang="en-US" i="1">
                      <a:solidFill>
                        <a:schemeClr val="tx1"/>
                      </a:solidFill>
                      <a:latin typeface="Cambria Math"/>
                      <a:ea typeface="Cambria Math"/>
                      <a:cs typeface="Cambria Math"/>
                    </a:rPr>
                    <m:t>⊆</m:t>
                  </m:r>
                  <m:sSub>
                    <m:e>
                      <m:r>
                        <a:rPr xmlns:a="http://schemas.openxmlformats.org/drawingml/2006/main" lang="en-US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ℬ</m:t>
                      </m:r>
                    </m:e>
                    <m:sub>
                      <m:r>
                        <a:rPr xmlns:a="http://schemas.openxmlformats.org/drawingml/2006/main" lang="en-US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</m:sub>
                  </m:sSub>
                </m:oMath>
              </m:oMathPara>
            </a14:m>
          </a:p>
          <a:p xmlns:a="http://schemas.openxmlformats.org/drawingml/2006/main">
            <a:r>
              <a:t>Shrink Bounds + Finer Lattice</a:t>
            </a:r>
          </a:p>
        </p:txBody>
      </p:sp>
      <p:sp>
        <p:nvSpPr>
          <p:cNvPr id="153" name="TextBox 152">
            <a:extLst xmlns:a="http://schemas.openxmlformats.org/drawingml/2006/main">
              <a:ext uri="{FF2B5EF4-FFF2-40B4-BE49-F238E27FC236}">
                <a16:creationId xmlns:a16="http://schemas.microsoft.com/office/drawing/2014/main" id="{4AF44E79-5929-4E73-3B93-3D7D1E1C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2280" y="2228474"/>
            <a:ext cx="892660" cy="5411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78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lang="ar-AE" sz="2400" i="1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e>
                    <m:sub>
                      <m:r>
                        <a:rPr xmlns:a="http://schemas.openxmlformats.org/drawingml/2006/main" lang="ar-AE" sz="2400" b="0" i="1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  <m:r>
                        <a:rPr xmlns:a="http://schemas.openxmlformats.org/drawingml/2006/main" lang="en-US" sz="2400" b="0" i="1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xmlns:a="http://schemas.openxmlformats.org/drawingml/2006/main" lang="en-US" sz="2400" b="0" i="1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lang="en-US" sz="2400" b="0" i="1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QHD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55" name="TextBox 154">
            <a:extLst xmlns:a="http://schemas.openxmlformats.org/drawingml/2006/main">
              <a:ext uri="{FF2B5EF4-FFF2-40B4-BE49-F238E27FC236}">
                <a16:creationId xmlns:a16="http://schemas.microsoft.com/office/drawing/2014/main" id="{8A796E9D-AC9E-C518-3E89-51BD8071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99883" y="3119609"/>
            <a:ext cx="892296" cy="4886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88000"/>
            </a:schemeClr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lang="ar-AE" sz="240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e>
                    <m:sub>
                      <m:r>
                        <a:rPr xmlns:a="http://schemas.openxmlformats.org/drawingml/2006/main" lang="ar-AE" sz="2400" b="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  <m:r>
                        <a:rPr xmlns:a="http://schemas.openxmlformats.org/drawingml/2006/main" lang="en-US" sz="2400" b="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xmlns:a="http://schemas.openxmlformats.org/drawingml/2006/main" lang="en-US" sz="2400" b="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lang="en-US" sz="2400" b="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CRF</m:t>
                      </m:r>
                    </m:sup>
                  </m:sSubSup>
                </m:oMath>
              </m:oMathPara>
            </a14:m>
          </a:p>
        </p:txBody>
      </p:sp>
      <p:cxnSp>
        <p:nvCxnSpPr>
          <p:cNvPr id="198" name="Connector: Curved 155"/>
          <p:cNvCxnSpPr>
            <a:stCxn xmlns:a="http://schemas.openxmlformats.org/drawingml/2006/main" id="95" idx="6"/>
            <a:endCxn xmlns:a="http://schemas.openxmlformats.org/drawingml/2006/main" id="166" idx="0"/>
          </p:cNvCxnSpPr>
          <p:nvPr/>
        </p:nvCxnSpPr>
        <p:spPr>
          <a:xfrm xmlns:a="http://schemas.openxmlformats.org/drawingml/2006/main" rot="0" flipH="0" flipV="0">
            <a:off x="4286597" y="2352927"/>
            <a:ext cx="397945" cy="155485"/>
          </a:xfrm>
          <a:prstGeom xmlns:a="http://schemas.openxmlformats.org/drawingml/2006/main" prst="curvedConnector2">
            <a:avLst/>
          </a:prstGeom>
          <a:ln xmlns:a="http://schemas.openxmlformats.org/drawingml/2006/main">
            <a:solidFill>
              <a:srgbClr val="00B0F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6" name="Oval 165">
            <a:extLst xmlns:a="http://schemas.openxmlformats.org/drawingml/2006/main">
              <a:ext uri="{FF2B5EF4-FFF2-40B4-BE49-F238E27FC236}">
                <a16:creationId xmlns:a16="http://schemas.microsoft.com/office/drawing/2014/main" id="{C1F59CCE-426B-CC4F-2AB6-53BF60B2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5962" y="250841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1" name="Oval 170">
            <a:extLst xmlns:a="http://schemas.openxmlformats.org/drawingml/2006/main">
              <a:ext uri="{FF2B5EF4-FFF2-40B4-BE49-F238E27FC236}">
                <a16:creationId xmlns:a16="http://schemas.microsoft.com/office/drawing/2014/main" id="{6E2A64E8-4FEB-F2B7-5D54-8FA04ABD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824" y="2843611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5317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01" name="Connector: Curved 171"/>
          <p:cNvCxnSpPr>
            <a:stCxn xmlns:a="http://schemas.openxmlformats.org/drawingml/2006/main" id="166" idx="4"/>
            <a:endCxn xmlns:a="http://schemas.openxmlformats.org/drawingml/2006/main" id="171" idx="0"/>
          </p:cNvCxnSpPr>
          <p:nvPr/>
        </p:nvCxnSpPr>
        <p:spPr>
          <a:xfrm xmlns:a="http://schemas.openxmlformats.org/drawingml/2006/main" rot="5400000" flipH="0" flipV="0">
            <a:off x="4473454" y="2632522"/>
            <a:ext cx="198039" cy="224138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>
            <a:solidFill>
              <a:srgbClr val="275317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graphicFrame>
        <p:nvGraphicFramePr>
          <p:cNvPr id="202" name="Table 146"/>
          <p:cNvGraphicFramePr/>
          <p:nvPr/>
        </p:nvGraphicFramePr>
        <p:xfrm>
          <a:off xmlns:a="http://schemas.openxmlformats.org/drawingml/2006/main" x="3536431" y="1677371"/>
          <a:ext xmlns:a="http://schemas.openxmlformats.org/drawingml/2006/main" cx="1371600" cy="13716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"/>
                <a:gridCol w="228600"/>
                <a:gridCol w="228600"/>
                <a:gridCol w="228600"/>
                <a:gridCol w="228600"/>
                <a:gridCol w="228600"/>
              </a:tblGrid>
              <a:tr h="228600"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755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TextBox 189">
            <a:extLst xmlns:a="http://schemas.openxmlformats.org/drawingml/2006/main">
              <a:ext uri="{FF2B5EF4-FFF2-40B4-BE49-F238E27FC236}">
                <a16:creationId xmlns:a16="http://schemas.microsoft.com/office/drawing/2014/main" id="{96E6FC72-1E85-4C70-A8B2-D0C74E60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90817" y="3835184"/>
            <a:ext cx="861453" cy="5089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lang="en-US" sz="2400" i="1"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e>
                    <m:sub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∗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91" name="Freeform: Shape 190">
            <a:extLst xmlns:a="http://schemas.openxmlformats.org/drawingml/2006/main">
              <a:ext uri="{FF2B5EF4-FFF2-40B4-BE49-F238E27FC236}">
                <a16:creationId xmlns:a16="http://schemas.microsoft.com/office/drawing/2014/main" id="{9D8C25C3-D90D-9502-0D02-4838971E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58695" y="1968268"/>
            <a:ext cx="3136392" cy="2862072"/>
          </a:xfrm>
          <a:custGeom xmlns:a="http://schemas.openxmlformats.org/drawingml/2006/main">
            <a:gdLst>
              <a:gd name="csX0" fmla="*/ 1078992 w 2935224"/>
              <a:gd name="csY0" fmla="*/ 374904 h 2660904"/>
              <a:gd name="csX1" fmla="*/ 384048 w 2935224"/>
              <a:gd name="csY1" fmla="*/ 685800 h 2660904"/>
              <a:gd name="csX2" fmla="*/ 9144 w 2935224"/>
              <a:gd name="csY2" fmla="*/ 1152144 h 2660904"/>
              <a:gd name="csX3" fmla="*/ 0 w 2935224"/>
              <a:gd name="csY3" fmla="*/ 1755648 h 2660904"/>
              <a:gd name="csX4" fmla="*/ 539496 w 2935224"/>
              <a:gd name="csY4" fmla="*/ 2066544 h 2660904"/>
              <a:gd name="csX5" fmla="*/ 768096 w 2935224"/>
              <a:gd name="csY5" fmla="*/ 2386584 h 2660904"/>
              <a:gd name="csX6" fmla="*/ 640080 w 2935224"/>
              <a:gd name="csY6" fmla="*/ 2542032 h 2660904"/>
              <a:gd name="csX7" fmla="*/ 859536 w 2935224"/>
              <a:gd name="csY7" fmla="*/ 2660904 h 2660904"/>
              <a:gd name="csX8" fmla="*/ 2084832 w 2935224"/>
              <a:gd name="csY8" fmla="*/ 2450592 h 2660904"/>
              <a:gd name="csX9" fmla="*/ 2743200 w 2935224"/>
              <a:gd name="csY9" fmla="*/ 1828800 h 2660904"/>
              <a:gd name="csX10" fmla="*/ 2935224 w 2935224"/>
              <a:gd name="csY10" fmla="*/ 1069848 h 2660904"/>
              <a:gd name="csX11" fmla="*/ 2715768 w 2935224"/>
              <a:gd name="csY11" fmla="*/ 493776 h 2660904"/>
              <a:gd name="csX12" fmla="*/ 2203704 w 2935224"/>
              <a:gd name="csY12" fmla="*/ 219456 h 2660904"/>
              <a:gd name="csX13" fmla="*/ 1682496 w 2935224"/>
              <a:gd name="csY13" fmla="*/ 0 h 2660904"/>
              <a:gd name="csX14" fmla="*/ 1298448 w 2935224"/>
              <a:gd name="csY14" fmla="*/ 27432 h 2660904"/>
              <a:gd name="csX15" fmla="*/ 1078992 w 2935224"/>
              <a:gd name="csY15" fmla="*/ 374904 h 2660904"/>
            </a:gdLst>
            <a:rect l="l" t="t" r="r" b="b"/>
            <a:pathLst>
              <a:path w="2935224" h="2660904">
                <a:moveTo>
                  <a:pt x="1078992" y="374904"/>
                </a:moveTo>
                <a:lnTo>
                  <a:pt x="384048" y="685800"/>
                </a:lnTo>
                <a:lnTo>
                  <a:pt x="9144" y="1152144"/>
                </a:lnTo>
                <a:lnTo>
                  <a:pt x="0" y="1755648"/>
                </a:lnTo>
                <a:lnTo>
                  <a:pt x="539496" y="2066544"/>
                </a:lnTo>
                <a:lnTo>
                  <a:pt x="768096" y="2386584"/>
                </a:lnTo>
                <a:lnTo>
                  <a:pt x="640080" y="2542032"/>
                </a:lnTo>
                <a:lnTo>
                  <a:pt x="859536" y="2660904"/>
                </a:lnTo>
                <a:lnTo>
                  <a:pt x="2084832" y="2450592"/>
                </a:lnTo>
                <a:lnTo>
                  <a:pt x="2743200" y="1828800"/>
                </a:lnTo>
                <a:lnTo>
                  <a:pt x="2935224" y="1069848"/>
                </a:lnTo>
                <a:lnTo>
                  <a:pt x="2715768" y="493776"/>
                </a:lnTo>
                <a:lnTo>
                  <a:pt x="2203704" y="219456"/>
                </a:lnTo>
                <a:lnTo>
                  <a:pt x="1682496" y="0"/>
                </a:lnTo>
                <a:lnTo>
                  <a:pt x="1298448" y="27432"/>
                </a:lnTo>
                <a:lnTo>
                  <a:pt x="1078992" y="374904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2" name="Oval 191">
            <a:extLst xmlns:a="http://schemas.openxmlformats.org/drawingml/2006/main">
              <a:ext uri="{FF2B5EF4-FFF2-40B4-BE49-F238E27FC236}">
                <a16:creationId xmlns:a16="http://schemas.microsoft.com/office/drawing/2014/main" id="{92D24C28-FC0D-2735-147F-BC2D09A6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90115" y="378792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6" name="Oval 185">
            <a:extLst xmlns:a="http://schemas.openxmlformats.org/drawingml/2006/main">
              <a:ext uri="{FF2B5EF4-FFF2-40B4-BE49-F238E27FC236}">
                <a16:creationId xmlns:a16="http://schemas.microsoft.com/office/drawing/2014/main" id="{EA96BCE8-719E-571E-5A34-53C89781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5561" y="3537271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F9A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71" name="Connector: Curved 186"/>
          <p:cNvCxnSpPr>
            <a:stCxn xmlns:a="http://schemas.openxmlformats.org/drawingml/2006/main" id="192" idx="7"/>
            <a:endCxn xmlns:a="http://schemas.openxmlformats.org/drawingml/2006/main" id="186" idx="4"/>
          </p:cNvCxnSpPr>
          <p:nvPr/>
        </p:nvCxnSpPr>
        <p:spPr>
          <a:xfrm xmlns:a="http://schemas.openxmlformats.org/drawingml/2006/main" rot="5400000" flipH="1" flipV="1">
            <a:off x="3708874" y="3372745"/>
            <a:ext cx="133580" cy="736953"/>
          </a:xfrm>
          <a:prstGeom xmlns:a="http://schemas.openxmlformats.org/drawingml/2006/main" prst="curvedConnector3">
            <a:avLst>
              <a:gd name="adj1" fmla="val -11800"/>
            </a:avLst>
          </a:prstGeom>
          <a:ln xmlns:a="http://schemas.openxmlformats.org/drawingml/2006/main">
            <a:solidFill>
              <a:srgbClr val="215F9A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88" name="Oval 187">
            <a:extLst xmlns:a="http://schemas.openxmlformats.org/drawingml/2006/main">
              <a:ext uri="{FF2B5EF4-FFF2-40B4-BE49-F238E27FC236}">
                <a16:creationId xmlns:a16="http://schemas.microsoft.com/office/drawing/2014/main" id="{910A034A-D9DD-9E69-D6FF-72F77F9C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0999" y="2916131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75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73" name="Connector: Curved 188"/>
          <p:cNvCxnSpPr>
            <a:stCxn xmlns:a="http://schemas.openxmlformats.org/drawingml/2006/main" id="186" idx="7"/>
            <a:endCxn xmlns:a="http://schemas.openxmlformats.org/drawingml/2006/main" id="188" idx="2"/>
          </p:cNvCxnSpPr>
          <p:nvPr/>
        </p:nvCxnSpPr>
        <p:spPr>
          <a:xfrm xmlns:a="http://schemas.openxmlformats.org/drawingml/2006/main" rot="5400000" flipH="1" flipV="1">
            <a:off x="4215493" y="2961853"/>
            <a:ext cx="572647" cy="618365"/>
          </a:xfrm>
          <a:prstGeom xmlns:a="http://schemas.openxmlformats.org/drawingml/2006/main" prst="curvedConnector2">
            <a:avLst/>
          </a:prstGeom>
          <a:ln xmlns:a="http://schemas.openxmlformats.org/drawingml/2006/main">
            <a:solidFill>
              <a:srgbClr val="3B7D23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8" name="TextBox 177">
            <a:extLst xmlns:a="http://schemas.openxmlformats.org/drawingml/2006/main">
              <a:ext uri="{FF2B5EF4-FFF2-40B4-BE49-F238E27FC236}">
                <a16:creationId xmlns:a16="http://schemas.microsoft.com/office/drawing/2014/main" id="{55C82DF8-B22B-8804-1C79-7B8BFCB9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1741" y="4919612"/>
            <a:ext cx="239283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Stop when </a:t>
            </a:r>
            <a14:m xmlns:a14="http://schemas.microsoft.com/office/drawing/2010/main">
              <m:oMathPara xmlns:m="http://schemas.openxmlformats.org/officeDocument/2006/math">
                <m:oMath>
                  <m:d>
                    <m:dPr>
                      <m:begChr m:val="‖"/>
                      <m:endChr m:val="‖"/>
                      <m:grow m:val="off"/>
                    </m:dPr>
                    <m:e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grow m:val="off"/>
                        </m:dPr>
                        <m:e>
                          <m:r>
                            <a:rPr xmlns:a="http://schemas.openxmlformats.org/drawingml/2006/main"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</m:d>
                    </m:e>
                  </m:d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≤</m:t>
                  </m:r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𝜀</m:t>
                  </m:r>
                </m:oMath>
              </m:oMathPara>
            </a14:m>
          </a:p>
        </p:txBody>
      </p:sp>
      <p:cxnSp>
        <p:nvCxnSpPr>
          <p:cNvPr id="275" name="Connector: Curved 180"/>
          <p:cNvCxnSpPr>
            <a:stCxn xmlns:a="http://schemas.openxmlformats.org/drawingml/2006/main" id="188" idx="6"/>
            <a:endCxn xmlns:a="http://schemas.openxmlformats.org/drawingml/2006/main" id="182" idx="0"/>
          </p:cNvCxnSpPr>
          <p:nvPr/>
        </p:nvCxnSpPr>
        <p:spPr>
          <a:xfrm xmlns:a="http://schemas.openxmlformats.org/drawingml/2006/main" rot="0" flipH="0" flipV="0">
            <a:off x="4948159" y="2984711"/>
            <a:ext cx="380042" cy="191291"/>
          </a:xfrm>
          <a:prstGeom xmlns:a="http://schemas.openxmlformats.org/drawingml/2006/main" prst="curvedConnector2">
            <a:avLst/>
          </a:prstGeom>
          <a:ln xmlns:a="http://schemas.openxmlformats.org/drawingml/2006/main">
            <a:solidFill>
              <a:srgbClr val="215F9A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82" name="Oval 181">
            <a:extLst xmlns:a="http://schemas.openxmlformats.org/drawingml/2006/main">
              <a:ext uri="{FF2B5EF4-FFF2-40B4-BE49-F238E27FC236}">
                <a16:creationId xmlns:a16="http://schemas.microsoft.com/office/drawing/2014/main" id="{39EE87F2-E14B-C74A-9C59-D6D3CEB1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7524" y="3176002"/>
            <a:ext cx="101353" cy="1013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F9A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3" name="Oval 182">
            <a:extLst xmlns:a="http://schemas.openxmlformats.org/drawingml/2006/main">
              <a:ext uri="{FF2B5EF4-FFF2-40B4-BE49-F238E27FC236}">
                <a16:creationId xmlns:a16="http://schemas.microsoft.com/office/drawing/2014/main" id="{EEF2416B-9A32-5FDA-8505-8EDA407B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3386" y="3506455"/>
            <a:ext cx="106099" cy="106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D23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78" name="Connector: Curved 183"/>
          <p:cNvCxnSpPr>
            <a:stCxn xmlns:a="http://schemas.openxmlformats.org/drawingml/2006/main" id="182" idx="4"/>
            <a:endCxn xmlns:a="http://schemas.openxmlformats.org/drawingml/2006/main" id="183" idx="0"/>
          </p:cNvCxnSpPr>
          <p:nvPr/>
        </p:nvCxnSpPr>
        <p:spPr>
          <a:xfrm xmlns:a="http://schemas.openxmlformats.org/drawingml/2006/main" rot="5400000" flipH="0" flipV="0">
            <a:off x="5102769" y="3281023"/>
            <a:ext cx="229100" cy="22176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>
            <a:solidFill>
              <a:srgbClr val="3B7D23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20" name="Rectangle 219">
            <a:extLst xmlns:a="http://schemas.openxmlformats.org/drawingml/2006/main">
              <a:ext uri="{FF2B5EF4-FFF2-40B4-BE49-F238E27FC236}">
                <a16:creationId xmlns:a16="http://schemas.microsoft.com/office/drawing/2014/main" id="{AF61132C-4F8C-AACB-E88B-5AC8A145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0663" y="2154929"/>
            <a:ext cx="1653083" cy="1653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accent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2" name="Rectangle 221">
            <a:extLst xmlns:a="http://schemas.openxmlformats.org/drawingml/2006/main">
              <a:ext uri="{FF2B5EF4-FFF2-40B4-BE49-F238E27FC236}">
                <a16:creationId xmlns:a16="http://schemas.microsoft.com/office/drawing/2014/main" id="{55D85FB9-477B-442F-92E5-5568493F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7385" y="2958274"/>
            <a:ext cx="1096361" cy="1096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4" name="Rectangle 223">
            <a:extLst xmlns:a="http://schemas.openxmlformats.org/drawingml/2006/main">
              <a:ext uri="{FF2B5EF4-FFF2-40B4-BE49-F238E27FC236}">
                <a16:creationId xmlns:a16="http://schemas.microsoft.com/office/drawing/2014/main" id="{85E2723E-3D19-9D80-544E-F803490E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1207" y="3246448"/>
            <a:ext cx="480356" cy="480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9" name="Oval 228">
            <a:extLst xmlns:a="http://schemas.openxmlformats.org/drawingml/2006/main">
              <a:ext uri="{FF2B5EF4-FFF2-40B4-BE49-F238E27FC236}">
                <a16:creationId xmlns:a16="http://schemas.microsoft.com/office/drawing/2014/main" id="{4706B328-5FF5-367E-C109-69625456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222" y="3212050"/>
            <a:ext cx="106099" cy="106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D23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1" name="Oval 230">
            <a:extLst xmlns:a="http://schemas.openxmlformats.org/drawingml/2006/main">
              <a:ext uri="{FF2B5EF4-FFF2-40B4-BE49-F238E27FC236}">
                <a16:creationId xmlns:a16="http://schemas.microsoft.com/office/drawing/2014/main" id="{D562AADF-9171-9050-D33E-2CE5B29B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0322" y="3433527"/>
            <a:ext cx="101353" cy="1013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F9A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9" name="Oval 248">
            <a:extLst xmlns:a="http://schemas.openxmlformats.org/drawingml/2006/main">
              <a:ext uri="{FF2B5EF4-FFF2-40B4-BE49-F238E27FC236}">
                <a16:creationId xmlns:a16="http://schemas.microsoft.com/office/drawing/2014/main" id="{EAB4A646-FB59-4857-3688-94AE086B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7204" y="3145852"/>
            <a:ext cx="60299" cy="602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F9A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1" name="Oval 250">
            <a:extLst xmlns:a="http://schemas.openxmlformats.org/drawingml/2006/main">
              <a:ext uri="{FF2B5EF4-FFF2-40B4-BE49-F238E27FC236}">
                <a16:creationId xmlns:a16="http://schemas.microsoft.com/office/drawing/2014/main" id="{7A1A201E-E804-AD21-0C4F-1E2D649E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8815" y="3220874"/>
            <a:ext cx="55430" cy="55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D23"/>
          </a:solidFill>
          <a:effectLst xmlns:a="http://schemas.openxmlformats.org/drawingml/2006/main"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86" name="Connector: Curved 251"/>
          <p:cNvCxnSpPr>
            <a:stCxn xmlns:a="http://schemas.openxmlformats.org/drawingml/2006/main" id="183" idx="2"/>
            <a:endCxn xmlns:a="http://schemas.openxmlformats.org/drawingml/2006/main" id="231" idx="5"/>
          </p:cNvCxnSpPr>
          <p:nvPr/>
        </p:nvCxnSpPr>
        <p:spPr>
          <a:xfrm xmlns:a="http://schemas.openxmlformats.org/drawingml/2006/main" rot="10800000" flipH="0" flipV="0">
            <a:off x="4846832" y="3520037"/>
            <a:ext cx="206554" cy="39468"/>
          </a:xfrm>
          <a:prstGeom xmlns:a="http://schemas.openxmlformats.org/drawingml/2006/main" prst="curvedConnector2">
            <a:avLst/>
          </a:prstGeom>
          <a:ln xmlns:a="http://schemas.openxmlformats.org/drawingml/2006/main" w="9525">
            <a:solidFill>
              <a:srgbClr val="215F9A"/>
            </a:solidFill>
            <a:headEnd type="none" w="med" len="med"/>
            <a:tailEnd type="non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7" name="Connector: Curved 254"/>
          <p:cNvCxnSpPr>
            <a:stCxn xmlns:a="http://schemas.openxmlformats.org/drawingml/2006/main" id="231" idx="1"/>
            <a:endCxn xmlns:a="http://schemas.openxmlformats.org/drawingml/2006/main" id="229" idx="3"/>
          </p:cNvCxnSpPr>
          <p:nvPr/>
        </p:nvCxnSpPr>
        <p:spPr>
          <a:xfrm xmlns:a="http://schemas.openxmlformats.org/drawingml/2006/main" rot="16200000" flipH="0" flipV="1">
            <a:off x="4666584" y="3339788"/>
            <a:ext cx="145759" cy="7140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rgbClr val="3B7D23"/>
            </a:solidFill>
            <a:headEnd type="none" w="med" len="med"/>
            <a:tailEnd type="non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59" name="TextBox 258">
            <a:extLst xmlns:a="http://schemas.openxmlformats.org/drawingml/2006/main">
              <a:ext uri="{FF2B5EF4-FFF2-40B4-BE49-F238E27FC236}">
                <a16:creationId xmlns:a16="http://schemas.microsoft.com/office/drawing/2014/main" id="{5B13B6C0-0934-112E-52D6-99B34128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459" y="1543242"/>
            <a:ext cx="355424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</a:rPr>
              <a:t>Repeat LALM/Classical Update</a:t>
            </a:r>
          </a:p>
        </p:txBody>
      </p:sp>
      <p:sp>
        <p:nvSpPr>
          <p:cNvPr id="262" name="Rectangle 261">
            <a:extLst xmlns:a="http://schemas.openxmlformats.org/drawingml/2006/main">
              <a:ext uri="{FF2B5EF4-FFF2-40B4-BE49-F238E27FC236}">
                <a16:creationId xmlns:a16="http://schemas.microsoft.com/office/drawing/2014/main" id="{48EE2B50-C5CD-D1C2-9E1C-A18C7D3F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0246" y="3034598"/>
            <a:ext cx="278666" cy="278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90" name="Connector: Curved 262"/>
          <p:cNvCxnSpPr>
            <a:stCxn xmlns:a="http://schemas.openxmlformats.org/drawingml/2006/main" id="249" idx="2"/>
            <a:endCxn xmlns:a="http://schemas.openxmlformats.org/drawingml/2006/main" id="229" idx="7"/>
          </p:cNvCxnSpPr>
          <p:nvPr/>
        </p:nvCxnSpPr>
        <p:spPr>
          <a:xfrm xmlns:a="http://schemas.openxmlformats.org/drawingml/2006/main" rot="10800000" flipH="0" flipV="1">
            <a:off x="4778784" y="3176002"/>
            <a:ext cx="78421" cy="51586"/>
          </a:xfrm>
          <a:prstGeom xmlns:a="http://schemas.openxmlformats.org/drawingml/2006/main" prst="curvedConnector2">
            <a:avLst/>
          </a:prstGeom>
          <a:ln xmlns:a="http://schemas.openxmlformats.org/drawingml/2006/main" w="9525">
            <a:solidFill>
              <a:srgbClr val="215F9A"/>
            </a:solidFill>
            <a:headEnd type="none" w="med" len="med"/>
            <a:tailEnd type="non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91" name="Connector: Curved 265"/>
          <p:cNvCxnSpPr>
            <a:stCxn xmlns:a="http://schemas.openxmlformats.org/drawingml/2006/main" id="251" idx="2"/>
            <a:endCxn xmlns:a="http://schemas.openxmlformats.org/drawingml/2006/main" id="249" idx="4"/>
          </p:cNvCxnSpPr>
          <p:nvPr/>
        </p:nvCxnSpPr>
        <p:spPr>
          <a:xfrm xmlns:a="http://schemas.openxmlformats.org/drawingml/2006/main" rot="10800000" flipH="0" flipV="0">
            <a:off x="4887355" y="3206151"/>
            <a:ext cx="51461" cy="42438"/>
          </a:xfrm>
          <a:prstGeom xmlns:a="http://schemas.openxmlformats.org/drawingml/2006/main" prst="curvedConnector2">
            <a:avLst/>
          </a:prstGeom>
          <a:ln xmlns:a="http://schemas.openxmlformats.org/drawingml/2006/main" w="9525">
            <a:solidFill>
              <a:srgbClr val="3B7D23"/>
            </a:solidFill>
            <a:headEnd type="none" w="med" len="med"/>
            <a:tailEnd type="non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C4018279-08CB-6B95-76B7-AF139D10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7612" y="2297804"/>
            <a:ext cx="55430" cy="55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D23"/>
          </a:solidFill>
          <a:effectLst xmlns:a="http://schemas.openxmlformats.org/drawingml/2006/main"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8E783A10-AFEE-9476-E994-6A256BBD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2277" y="2668255"/>
            <a:ext cx="106099" cy="106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D23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44DD4753-2E5F-8363-720E-FA306E32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88485" y="3044499"/>
            <a:ext cx="101353" cy="1013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F9A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DCE528A-BEE6-CAC5-A957-CF6743BE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4974" y="2140186"/>
            <a:ext cx="28719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Converged solution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06D0141-0E78-0F2F-B9CE-65A8E43E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4973" y="2547296"/>
            <a:ext cx="28719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Classically refined solution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54121FC-6A5C-251D-EEF5-B49F910E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4973" y="2906972"/>
            <a:ext cx="28719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QHD coarse solution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A5E7FA70-408A-093A-FAB1-D1B578C3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5374" y="3433527"/>
            <a:ext cx="207573" cy="207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D5E311A-3EDF-3641-E23A-D6194C98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4973" y="3335371"/>
            <a:ext cx="28719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Localized QHD bounds</a:t>
            </a:r>
          </a:p>
        </p:txBody>
      </p:sp>
    </p:spTree>
    <p:extLst>
      <p:ext uri="{BB962C8B-B14F-4D97-AF65-F5344CB8AC3E}">
        <p14:creationId xmlns:p14="http://schemas.microsoft.com/office/powerpoint/2010/main" val="11855360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TextBox 98">
            <a:extLst xmlns:a="http://schemas.openxmlformats.org/drawingml/2006/main">
              <a:ext uri="{FF2B5EF4-FFF2-40B4-BE49-F238E27FC236}">
                <a16:creationId xmlns:a16="http://schemas.microsoft.com/office/drawing/2014/main" id="{02A66AAB-6807-7007-E2F7-99932B26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29255" y="3203400"/>
            <a:ext cx="861453" cy="5089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lang="en-US" sz="2400" i="1"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e>
                    <m:sub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∗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00" name="Freeform: Shape 99">
            <a:extLst xmlns:a="http://schemas.openxmlformats.org/drawingml/2006/main">
              <a:ext uri="{FF2B5EF4-FFF2-40B4-BE49-F238E27FC236}">
                <a16:creationId xmlns:a16="http://schemas.microsoft.com/office/drawing/2014/main" id="{6119498A-99C4-970F-6CEF-4CB1888A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97133" y="1336484"/>
            <a:ext cx="3136392" cy="2862072"/>
          </a:xfrm>
          <a:custGeom xmlns:a="http://schemas.openxmlformats.org/drawingml/2006/main">
            <a:gdLst>
              <a:gd name="csX0" fmla="*/ 1078992 w 2935224"/>
              <a:gd name="csY0" fmla="*/ 374904 h 2660904"/>
              <a:gd name="csX1" fmla="*/ 384048 w 2935224"/>
              <a:gd name="csY1" fmla="*/ 685800 h 2660904"/>
              <a:gd name="csX2" fmla="*/ 9144 w 2935224"/>
              <a:gd name="csY2" fmla="*/ 1152144 h 2660904"/>
              <a:gd name="csX3" fmla="*/ 0 w 2935224"/>
              <a:gd name="csY3" fmla="*/ 1755648 h 2660904"/>
              <a:gd name="csX4" fmla="*/ 539496 w 2935224"/>
              <a:gd name="csY4" fmla="*/ 2066544 h 2660904"/>
              <a:gd name="csX5" fmla="*/ 768096 w 2935224"/>
              <a:gd name="csY5" fmla="*/ 2386584 h 2660904"/>
              <a:gd name="csX6" fmla="*/ 640080 w 2935224"/>
              <a:gd name="csY6" fmla="*/ 2542032 h 2660904"/>
              <a:gd name="csX7" fmla="*/ 859536 w 2935224"/>
              <a:gd name="csY7" fmla="*/ 2660904 h 2660904"/>
              <a:gd name="csX8" fmla="*/ 2084832 w 2935224"/>
              <a:gd name="csY8" fmla="*/ 2450592 h 2660904"/>
              <a:gd name="csX9" fmla="*/ 2743200 w 2935224"/>
              <a:gd name="csY9" fmla="*/ 1828800 h 2660904"/>
              <a:gd name="csX10" fmla="*/ 2935224 w 2935224"/>
              <a:gd name="csY10" fmla="*/ 1069848 h 2660904"/>
              <a:gd name="csX11" fmla="*/ 2715768 w 2935224"/>
              <a:gd name="csY11" fmla="*/ 493776 h 2660904"/>
              <a:gd name="csX12" fmla="*/ 2203704 w 2935224"/>
              <a:gd name="csY12" fmla="*/ 219456 h 2660904"/>
              <a:gd name="csX13" fmla="*/ 1682496 w 2935224"/>
              <a:gd name="csY13" fmla="*/ 0 h 2660904"/>
              <a:gd name="csX14" fmla="*/ 1298448 w 2935224"/>
              <a:gd name="csY14" fmla="*/ 27432 h 2660904"/>
              <a:gd name="csX15" fmla="*/ 1078992 w 2935224"/>
              <a:gd name="csY15" fmla="*/ 374904 h 2660904"/>
            </a:gdLst>
            <a:rect l="l" t="t" r="r" b="b"/>
            <a:pathLst>
              <a:path w="2935224" h="2660904">
                <a:moveTo>
                  <a:pt x="1078992" y="374904"/>
                </a:moveTo>
                <a:lnTo>
                  <a:pt x="384048" y="685800"/>
                </a:lnTo>
                <a:lnTo>
                  <a:pt x="9144" y="1152144"/>
                </a:lnTo>
                <a:lnTo>
                  <a:pt x="0" y="1755648"/>
                </a:lnTo>
                <a:lnTo>
                  <a:pt x="539496" y="2066544"/>
                </a:lnTo>
                <a:lnTo>
                  <a:pt x="768096" y="2386584"/>
                </a:lnTo>
                <a:lnTo>
                  <a:pt x="640080" y="2542032"/>
                </a:lnTo>
                <a:lnTo>
                  <a:pt x="859536" y="2660904"/>
                </a:lnTo>
                <a:lnTo>
                  <a:pt x="2084832" y="2450592"/>
                </a:lnTo>
                <a:lnTo>
                  <a:pt x="2743200" y="1828800"/>
                </a:lnTo>
                <a:lnTo>
                  <a:pt x="2935224" y="1069848"/>
                </a:lnTo>
                <a:lnTo>
                  <a:pt x="2715768" y="493776"/>
                </a:lnTo>
                <a:lnTo>
                  <a:pt x="2203704" y="219456"/>
                </a:lnTo>
                <a:lnTo>
                  <a:pt x="1682496" y="0"/>
                </a:lnTo>
                <a:lnTo>
                  <a:pt x="1298448" y="27432"/>
                </a:lnTo>
                <a:lnTo>
                  <a:pt x="1078992" y="374904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Oval 100">
            <a:extLst xmlns:a="http://schemas.openxmlformats.org/drawingml/2006/main">
              <a:ext uri="{FF2B5EF4-FFF2-40B4-BE49-F238E27FC236}">
                <a16:creationId xmlns:a16="http://schemas.microsoft.com/office/drawing/2014/main" id="{EC2E72E5-CF8A-A32E-547C-4D9B4E62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553" y="315614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77" name="Straight Connector 110"/>
          <p:cNvCxnSpPr>
            <a:stCxn xmlns:a="http://schemas.openxmlformats.org/drawingml/2006/main" id="100" idx="1"/>
          </p:cNvCxnSpPr>
          <p:nvPr/>
        </p:nvCxnSpPr>
        <p:spPr>
          <a:xfrm xmlns:a="http://schemas.openxmlformats.org/drawingml/2006/main" rot="0" flipH="1" flipV="0">
            <a:off x="3100505" y="2074130"/>
            <a:ext cx="6998" cy="1387189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2" name="Straight Connector 111">
            <a:extLst xmlns:a="http://schemas.openxmlformats.org/drawingml/2006/main">
              <a:ext uri="{FF2B5EF4-FFF2-40B4-BE49-F238E27FC236}">
                <a16:creationId xmlns:a16="http://schemas.microsoft.com/office/drawing/2014/main" id="{36E98775-6161-48F6-957D-9294247F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0054" y="1899221"/>
            <a:ext cx="0" cy="2233612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179" name="Straight Connector 112"/>
          <p:cNvCxnSpPr>
            <a:stCxn xmlns:a="http://schemas.openxmlformats.org/drawingml/2006/main" id="100" idx="0"/>
          </p:cNvCxnSpPr>
          <p:nvPr/>
        </p:nvCxnSpPr>
        <p:spPr>
          <a:xfrm xmlns:a="http://schemas.openxmlformats.org/drawingml/2006/main" rot="0" flipH="0" flipV="0">
            <a:off x="3850077" y="1739731"/>
            <a:ext cx="2527" cy="2419296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4" name="Straight Connector 113">
            <a:extLst xmlns:a="http://schemas.openxmlformats.org/drawingml/2006/main">
              <a:ext uri="{FF2B5EF4-FFF2-40B4-BE49-F238E27FC236}">
                <a16:creationId xmlns:a16="http://schemas.microsoft.com/office/drawing/2014/main" id="{01043B83-03FC-4AB3-9A6C-DDA22840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18063" y="1370584"/>
            <a:ext cx="0" cy="272653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5" name="Straight Connector 114">
            <a:extLst xmlns:a="http://schemas.openxmlformats.org/drawingml/2006/main">
              <a:ext uri="{FF2B5EF4-FFF2-40B4-BE49-F238E27FC236}">
                <a16:creationId xmlns:a16="http://schemas.microsoft.com/office/drawing/2014/main" id="{53B2E84C-DC63-49EB-9C4A-187D18E4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5561" y="1370584"/>
            <a:ext cx="0" cy="2652712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6" name="Straight Connector 115">
            <a:extLst xmlns:a="http://schemas.openxmlformats.org/drawingml/2006/main">
              <a:ext uri="{FF2B5EF4-FFF2-40B4-BE49-F238E27FC236}">
                <a16:creationId xmlns:a16="http://schemas.microsoft.com/office/drawing/2014/main" id="{0CDEC934-21B9-4154-83E2-4EC9F4B0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7157" y="1532508"/>
            <a:ext cx="0" cy="2390775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7" name="Straight Connector 116">
            <a:extLst xmlns:a="http://schemas.openxmlformats.org/drawingml/2006/main">
              <a:ext uri="{FF2B5EF4-FFF2-40B4-BE49-F238E27FC236}">
                <a16:creationId xmlns:a16="http://schemas.microsoft.com/office/drawing/2014/main" id="{BB9A4B9A-D324-41A1-A2F4-8E71345A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56705" y="1746187"/>
            <a:ext cx="0" cy="1815147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8" name="Straight Connector 117">
            <a:extLst xmlns:a="http://schemas.openxmlformats.org/drawingml/2006/main">
              <a:ext uri="{FF2B5EF4-FFF2-40B4-BE49-F238E27FC236}">
                <a16:creationId xmlns:a16="http://schemas.microsoft.com/office/drawing/2014/main" id="{84862DA9-C277-4D08-8349-2AE7B36B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080" y="2151296"/>
            <a:ext cx="0" cy="816494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185" name="Straight Connector 104"/>
          <p:cNvCxnSpPr>
            <a:endCxn xmlns:a="http://schemas.openxmlformats.org/drawingml/2006/main" id="100" idx="0"/>
          </p:cNvCxnSpPr>
          <p:nvPr/>
        </p:nvCxnSpPr>
        <p:spPr>
          <a:xfrm xmlns:a="http://schemas.openxmlformats.org/drawingml/2006/main" rot="16200000" flipH="1" flipV="1">
            <a:off x="2689485" y="2382940"/>
            <a:ext cx="1200596" cy="8103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6" name="Straight Connector 105">
            <a:extLst xmlns:a="http://schemas.openxmlformats.org/drawingml/2006/main">
              <a:ext uri="{FF2B5EF4-FFF2-40B4-BE49-F238E27FC236}">
                <a16:creationId xmlns:a16="http://schemas.microsoft.com/office/drawing/2014/main" id="{22EE06C1-5171-4B5A-A3BC-BFB6A65F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 flipV="0">
            <a:off x="2623233" y="2628059"/>
            <a:ext cx="2098247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7" name="Straight Connector 106">
            <a:extLst xmlns:a="http://schemas.openxmlformats.org/drawingml/2006/main">
              <a:ext uri="{FF2B5EF4-FFF2-40B4-BE49-F238E27FC236}">
                <a16:creationId xmlns:a16="http://schemas.microsoft.com/office/drawing/2014/main" id="{D2E24AC1-E0E2-4DA4-ABDA-9FBF1B97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 flipV="0">
            <a:off x="2821711" y="2766018"/>
            <a:ext cx="247214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8" name="Straight Connector 107">
            <a:extLst xmlns:a="http://schemas.openxmlformats.org/drawingml/2006/main">
              <a:ext uri="{FF2B5EF4-FFF2-40B4-BE49-F238E27FC236}">
                <a16:creationId xmlns:a16="http://schemas.microsoft.com/office/drawing/2014/main" id="{AA1A3677-4BE4-4BD6-9024-13308932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 flipV="0">
            <a:off x="3242364" y="2821073"/>
            <a:ext cx="2388191" cy="2335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Straight Connector 108">
            <a:extLst xmlns:a="http://schemas.openxmlformats.org/drawingml/2006/main">
              <a:ext uri="{FF2B5EF4-FFF2-40B4-BE49-F238E27FC236}">
                <a16:creationId xmlns:a16="http://schemas.microsoft.com/office/drawing/2014/main" id="{5DA103D0-27E2-4A8A-8B96-D655395B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 flipV="0">
            <a:off x="3853427" y="2747212"/>
            <a:ext cx="198864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Straight Connector 109">
            <a:extLst xmlns:a="http://schemas.openxmlformats.org/drawingml/2006/main">
              <a:ext uri="{FF2B5EF4-FFF2-40B4-BE49-F238E27FC236}">
                <a16:creationId xmlns:a16="http://schemas.microsoft.com/office/drawing/2014/main" id="{BBEA2E33-2FB4-4E66-817C-A338C8F5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 flipV="0">
            <a:off x="4540922" y="2733234"/>
            <a:ext cx="1337777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Oval 92">
            <a:extLst xmlns:a="http://schemas.openxmlformats.org/drawingml/2006/main">
              <a:ext uri="{FF2B5EF4-FFF2-40B4-BE49-F238E27FC236}">
                <a16:creationId xmlns:a16="http://schemas.microsoft.com/office/drawing/2014/main" id="{D7A69EBD-480E-40A0-F687-78989407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13999" y="2905487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F9A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92" name="Connector: Curved 93"/>
          <p:cNvCxnSpPr>
            <a:stCxn xmlns:a="http://schemas.openxmlformats.org/drawingml/2006/main" id="101" idx="7"/>
            <a:endCxn xmlns:a="http://schemas.openxmlformats.org/drawingml/2006/main" id="93" idx="4"/>
          </p:cNvCxnSpPr>
          <p:nvPr/>
        </p:nvCxnSpPr>
        <p:spPr>
          <a:xfrm xmlns:a="http://schemas.openxmlformats.org/drawingml/2006/main" rot="5400000" flipH="1" flipV="1">
            <a:off x="3047312" y="2740961"/>
            <a:ext cx="133580" cy="736953"/>
          </a:xfrm>
          <a:prstGeom xmlns:a="http://schemas.openxmlformats.org/drawingml/2006/main" prst="curvedConnector3">
            <a:avLst>
              <a:gd name="adj1" fmla="val -11800"/>
            </a:avLst>
          </a:prstGeom>
          <a:ln xmlns:a="http://schemas.openxmlformats.org/drawingml/2006/main">
            <a:solidFill>
              <a:srgbClr val="215F9A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5" name="Oval 94">
            <a:extLst xmlns:a="http://schemas.openxmlformats.org/drawingml/2006/main">
              <a:ext uri="{FF2B5EF4-FFF2-40B4-BE49-F238E27FC236}">
                <a16:creationId xmlns:a16="http://schemas.microsoft.com/office/drawing/2014/main" id="{D0A8F54B-5397-1F8C-D5E4-1F0AEE24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49437" y="2284347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75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94" name="Connector: Curved 96"/>
          <p:cNvCxnSpPr>
            <a:stCxn xmlns:a="http://schemas.openxmlformats.org/drawingml/2006/main" id="93" idx="7"/>
            <a:endCxn xmlns:a="http://schemas.openxmlformats.org/drawingml/2006/main" id="95" idx="2"/>
          </p:cNvCxnSpPr>
          <p:nvPr/>
        </p:nvCxnSpPr>
        <p:spPr>
          <a:xfrm xmlns:a="http://schemas.openxmlformats.org/drawingml/2006/main" rot="5400000" flipH="1" flipV="1">
            <a:off x="3553931" y="2330069"/>
            <a:ext cx="572647" cy="618365"/>
          </a:xfrm>
          <a:prstGeom xmlns:a="http://schemas.openxmlformats.org/drawingml/2006/main" prst="curvedConnector2">
            <a:avLst/>
          </a:prstGeom>
          <a:ln xmlns:a="http://schemas.openxmlformats.org/drawingml/2006/main">
            <a:solidFill>
              <a:srgbClr val="3B7D23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1" name="TextBox 150">
            <a:extLst xmlns:a="http://schemas.openxmlformats.org/drawingml/2006/main">
              <a:ext uri="{FF2B5EF4-FFF2-40B4-BE49-F238E27FC236}">
                <a16:creationId xmlns:a16="http://schemas.microsoft.com/office/drawing/2014/main" id="{13A224D4-FA5F-0C6C-0B78-EF80CF56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65713" y="4253486"/>
            <a:ext cx="307058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ℬ</m:t>
                      </m:r>
                    </m:e>
                    <m:sub>
                      <m:r>
                        <a:rPr xmlns:a="http://schemas.openxmlformats.org/drawingml/2006/main" lang="en-US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  <m:r>
                        <a:rPr xmlns:a="http://schemas.openxmlformats.org/drawingml/2006/main" lang="en-US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xmlns:a="http://schemas.openxmlformats.org/drawingml/2006/main" lang="en-US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sub>
                  </m:sSub>
                  <m:r>
                    <a:rPr xmlns:a="http://schemas.openxmlformats.org/drawingml/2006/main" lang="en-US" i="1">
                      <a:solidFill>
                        <a:schemeClr val="tx1"/>
                      </a:solidFill>
                      <a:latin typeface="Cambria Math"/>
                      <a:ea typeface="Cambria Math"/>
                      <a:cs typeface="Cambria Math"/>
                    </a:rPr>
                    <m:t>⊆</m:t>
                  </m:r>
                  <m:sSub>
                    <m:e>
                      <m:r>
                        <a:rPr xmlns:a="http://schemas.openxmlformats.org/drawingml/2006/main" lang="en-US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ℬ</m:t>
                      </m:r>
                    </m:e>
                    <m:sub>
                      <m:r>
                        <a:rPr xmlns:a="http://schemas.openxmlformats.org/drawingml/2006/main" lang="en-US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</m:sub>
                  </m:sSub>
                </m:oMath>
              </m:oMathPara>
            </a14:m>
          </a:p>
          <a:p xmlns:a="http://schemas.openxmlformats.org/drawingml/2006/main">
            <a:r>
              <a:t>Shrink Bounds + Finer Lattice</a:t>
            </a:r>
          </a:p>
        </p:txBody>
      </p:sp>
      <p:sp>
        <p:nvSpPr>
          <p:cNvPr id="153" name="TextBox 152">
            <a:extLst xmlns:a="http://schemas.openxmlformats.org/drawingml/2006/main">
              <a:ext uri="{FF2B5EF4-FFF2-40B4-BE49-F238E27FC236}">
                <a16:creationId xmlns:a16="http://schemas.microsoft.com/office/drawing/2014/main" id="{4AF44E79-5929-4E73-3B93-3D7D1E1C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2280" y="2228474"/>
            <a:ext cx="892660" cy="5411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78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lang="ar-AE" sz="2400" i="1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e>
                    <m:sub>
                      <m:r>
                        <a:rPr xmlns:a="http://schemas.openxmlformats.org/drawingml/2006/main" lang="ar-AE" sz="2400" b="0" i="1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  <m:r>
                        <a:rPr xmlns:a="http://schemas.openxmlformats.org/drawingml/2006/main" lang="en-US" sz="2400" b="0" i="1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xmlns:a="http://schemas.openxmlformats.org/drawingml/2006/main" lang="en-US" sz="2400" b="0" i="1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lang="en-US" sz="2400" b="0" i="1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QHD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55" name="TextBox 154">
            <a:extLst xmlns:a="http://schemas.openxmlformats.org/drawingml/2006/main">
              <a:ext uri="{FF2B5EF4-FFF2-40B4-BE49-F238E27FC236}">
                <a16:creationId xmlns:a16="http://schemas.microsoft.com/office/drawing/2014/main" id="{8A796E9D-AC9E-C518-3E89-51BD8071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99883" y="3119609"/>
            <a:ext cx="892296" cy="4886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88000"/>
            </a:schemeClr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lang="ar-AE" sz="240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e>
                    <m:sub>
                      <m:r>
                        <a:rPr xmlns:a="http://schemas.openxmlformats.org/drawingml/2006/main" lang="ar-AE" sz="2400" b="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  <m:r>
                        <a:rPr xmlns:a="http://schemas.openxmlformats.org/drawingml/2006/main" lang="en-US" sz="2400" b="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xmlns:a="http://schemas.openxmlformats.org/drawingml/2006/main" lang="en-US" sz="2400" b="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lang="en-US" sz="2400" b="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CRF</m:t>
                      </m:r>
                    </m:sup>
                  </m:sSubSup>
                </m:oMath>
              </m:oMathPara>
            </a14:m>
          </a:p>
        </p:txBody>
      </p:sp>
      <p:cxnSp>
        <p:nvCxnSpPr>
          <p:cNvPr id="198" name="Connector: Curved 155"/>
          <p:cNvCxnSpPr>
            <a:stCxn xmlns:a="http://schemas.openxmlformats.org/drawingml/2006/main" id="95" idx="6"/>
            <a:endCxn xmlns:a="http://schemas.openxmlformats.org/drawingml/2006/main" id="166" idx="0"/>
          </p:cNvCxnSpPr>
          <p:nvPr/>
        </p:nvCxnSpPr>
        <p:spPr>
          <a:xfrm xmlns:a="http://schemas.openxmlformats.org/drawingml/2006/main" rot="0" flipH="0" flipV="0">
            <a:off x="4286597" y="2352927"/>
            <a:ext cx="397945" cy="155485"/>
          </a:xfrm>
          <a:prstGeom xmlns:a="http://schemas.openxmlformats.org/drawingml/2006/main" prst="curvedConnector2">
            <a:avLst/>
          </a:prstGeom>
          <a:ln xmlns:a="http://schemas.openxmlformats.org/drawingml/2006/main">
            <a:solidFill>
              <a:srgbClr val="00B0F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6" name="Oval 165">
            <a:extLst xmlns:a="http://schemas.openxmlformats.org/drawingml/2006/main">
              <a:ext uri="{FF2B5EF4-FFF2-40B4-BE49-F238E27FC236}">
                <a16:creationId xmlns:a16="http://schemas.microsoft.com/office/drawing/2014/main" id="{C1F59CCE-426B-CC4F-2AB6-53BF60B2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5962" y="250841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1" name="Oval 170">
            <a:extLst xmlns:a="http://schemas.openxmlformats.org/drawingml/2006/main">
              <a:ext uri="{FF2B5EF4-FFF2-40B4-BE49-F238E27FC236}">
                <a16:creationId xmlns:a16="http://schemas.microsoft.com/office/drawing/2014/main" id="{6E2A64E8-4FEB-F2B7-5D54-8FA04ABD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824" y="2843611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5317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01" name="Connector: Curved 171"/>
          <p:cNvCxnSpPr>
            <a:stCxn xmlns:a="http://schemas.openxmlformats.org/drawingml/2006/main" id="166" idx="4"/>
            <a:endCxn xmlns:a="http://schemas.openxmlformats.org/drawingml/2006/main" id="171" idx="0"/>
          </p:cNvCxnSpPr>
          <p:nvPr/>
        </p:nvCxnSpPr>
        <p:spPr>
          <a:xfrm xmlns:a="http://schemas.openxmlformats.org/drawingml/2006/main" rot="5400000" flipH="0" flipV="0">
            <a:off x="4473454" y="2632522"/>
            <a:ext cx="198039" cy="224138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>
            <a:solidFill>
              <a:srgbClr val="275317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graphicFrame>
        <p:nvGraphicFramePr>
          <p:cNvPr id="202" name="Table 146"/>
          <p:cNvGraphicFramePr/>
          <p:nvPr/>
        </p:nvGraphicFramePr>
        <p:xfrm>
          <a:off xmlns:a="http://schemas.openxmlformats.org/drawingml/2006/main" x="3536431" y="1677371"/>
          <a:ext xmlns:a="http://schemas.openxmlformats.org/drawingml/2006/main" cx="1371600" cy="13716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"/>
                <a:gridCol w="228600"/>
                <a:gridCol w="228600"/>
                <a:gridCol w="228600"/>
                <a:gridCol w="228600"/>
                <a:gridCol w="228600"/>
              </a:tblGrid>
              <a:tr h="228600"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57150" marR="57150" marT="28575" marB="28575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755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TextBox 189">
            <a:extLst xmlns:a="http://schemas.openxmlformats.org/drawingml/2006/main">
              <a:ext uri="{FF2B5EF4-FFF2-40B4-BE49-F238E27FC236}">
                <a16:creationId xmlns:a16="http://schemas.microsoft.com/office/drawing/2014/main" id="{96E6FC72-1E85-4C70-A8B2-D0C74E60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90817" y="3835184"/>
            <a:ext cx="861453" cy="5089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lang="en-US" sz="2400" i="1"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e>
                    <m:sub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sub>
                    <m:sup>
                      <m:r>
                        <a:rPr xmlns:a="http://schemas.openxmlformats.org/drawingml/2006/main" lang="en-US" sz="2400" b="0" i="1">
                          <a:latin typeface="Cambria Math"/>
                          <a:ea typeface="Cambria Math"/>
                          <a:cs typeface="Cambria Math"/>
                        </a:rPr>
                        <m:t>∗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91" name="Freeform: Shape 190">
            <a:extLst xmlns:a="http://schemas.openxmlformats.org/drawingml/2006/main">
              <a:ext uri="{FF2B5EF4-FFF2-40B4-BE49-F238E27FC236}">
                <a16:creationId xmlns:a16="http://schemas.microsoft.com/office/drawing/2014/main" id="{9D8C25C3-D90D-9502-0D02-4838971E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58695" y="1968268"/>
            <a:ext cx="3136392" cy="2862072"/>
          </a:xfrm>
          <a:custGeom xmlns:a="http://schemas.openxmlformats.org/drawingml/2006/main">
            <a:gdLst>
              <a:gd name="csX0" fmla="*/ 1078992 w 2935224"/>
              <a:gd name="csY0" fmla="*/ 374904 h 2660904"/>
              <a:gd name="csX1" fmla="*/ 384048 w 2935224"/>
              <a:gd name="csY1" fmla="*/ 685800 h 2660904"/>
              <a:gd name="csX2" fmla="*/ 9144 w 2935224"/>
              <a:gd name="csY2" fmla="*/ 1152144 h 2660904"/>
              <a:gd name="csX3" fmla="*/ 0 w 2935224"/>
              <a:gd name="csY3" fmla="*/ 1755648 h 2660904"/>
              <a:gd name="csX4" fmla="*/ 539496 w 2935224"/>
              <a:gd name="csY4" fmla="*/ 2066544 h 2660904"/>
              <a:gd name="csX5" fmla="*/ 768096 w 2935224"/>
              <a:gd name="csY5" fmla="*/ 2386584 h 2660904"/>
              <a:gd name="csX6" fmla="*/ 640080 w 2935224"/>
              <a:gd name="csY6" fmla="*/ 2542032 h 2660904"/>
              <a:gd name="csX7" fmla="*/ 859536 w 2935224"/>
              <a:gd name="csY7" fmla="*/ 2660904 h 2660904"/>
              <a:gd name="csX8" fmla="*/ 2084832 w 2935224"/>
              <a:gd name="csY8" fmla="*/ 2450592 h 2660904"/>
              <a:gd name="csX9" fmla="*/ 2743200 w 2935224"/>
              <a:gd name="csY9" fmla="*/ 1828800 h 2660904"/>
              <a:gd name="csX10" fmla="*/ 2935224 w 2935224"/>
              <a:gd name="csY10" fmla="*/ 1069848 h 2660904"/>
              <a:gd name="csX11" fmla="*/ 2715768 w 2935224"/>
              <a:gd name="csY11" fmla="*/ 493776 h 2660904"/>
              <a:gd name="csX12" fmla="*/ 2203704 w 2935224"/>
              <a:gd name="csY12" fmla="*/ 219456 h 2660904"/>
              <a:gd name="csX13" fmla="*/ 1682496 w 2935224"/>
              <a:gd name="csY13" fmla="*/ 0 h 2660904"/>
              <a:gd name="csX14" fmla="*/ 1298448 w 2935224"/>
              <a:gd name="csY14" fmla="*/ 27432 h 2660904"/>
              <a:gd name="csX15" fmla="*/ 1078992 w 2935224"/>
              <a:gd name="csY15" fmla="*/ 374904 h 2660904"/>
            </a:gdLst>
            <a:rect l="l" t="t" r="r" b="b"/>
            <a:pathLst>
              <a:path w="2935224" h="2660904">
                <a:moveTo>
                  <a:pt x="1078992" y="374904"/>
                </a:moveTo>
                <a:lnTo>
                  <a:pt x="384048" y="685800"/>
                </a:lnTo>
                <a:lnTo>
                  <a:pt x="9144" y="1152144"/>
                </a:lnTo>
                <a:lnTo>
                  <a:pt x="0" y="1755648"/>
                </a:lnTo>
                <a:lnTo>
                  <a:pt x="539496" y="2066544"/>
                </a:lnTo>
                <a:lnTo>
                  <a:pt x="768096" y="2386584"/>
                </a:lnTo>
                <a:lnTo>
                  <a:pt x="640080" y="2542032"/>
                </a:lnTo>
                <a:lnTo>
                  <a:pt x="859536" y="2660904"/>
                </a:lnTo>
                <a:lnTo>
                  <a:pt x="2084832" y="2450592"/>
                </a:lnTo>
                <a:lnTo>
                  <a:pt x="2743200" y="1828800"/>
                </a:lnTo>
                <a:lnTo>
                  <a:pt x="2935224" y="1069848"/>
                </a:lnTo>
                <a:lnTo>
                  <a:pt x="2715768" y="493776"/>
                </a:lnTo>
                <a:lnTo>
                  <a:pt x="2203704" y="219456"/>
                </a:lnTo>
                <a:lnTo>
                  <a:pt x="1682496" y="0"/>
                </a:lnTo>
                <a:lnTo>
                  <a:pt x="1298448" y="27432"/>
                </a:lnTo>
                <a:lnTo>
                  <a:pt x="1078992" y="374904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2" name="Oval 191">
            <a:extLst xmlns:a="http://schemas.openxmlformats.org/drawingml/2006/main">
              <a:ext uri="{FF2B5EF4-FFF2-40B4-BE49-F238E27FC236}">
                <a16:creationId xmlns:a16="http://schemas.microsoft.com/office/drawing/2014/main" id="{92D24C28-FC0D-2735-147F-BC2D09A6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90115" y="378792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6" name="Oval 185">
            <a:extLst xmlns:a="http://schemas.openxmlformats.org/drawingml/2006/main">
              <a:ext uri="{FF2B5EF4-FFF2-40B4-BE49-F238E27FC236}">
                <a16:creationId xmlns:a16="http://schemas.microsoft.com/office/drawing/2014/main" id="{EA96BCE8-719E-571E-5A34-53C89781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5561" y="3537271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F9A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71" name="Connector: Curved 186"/>
          <p:cNvCxnSpPr>
            <a:stCxn xmlns:a="http://schemas.openxmlformats.org/drawingml/2006/main" id="192" idx="7"/>
            <a:endCxn xmlns:a="http://schemas.openxmlformats.org/drawingml/2006/main" id="186" idx="4"/>
          </p:cNvCxnSpPr>
          <p:nvPr/>
        </p:nvCxnSpPr>
        <p:spPr>
          <a:xfrm xmlns:a="http://schemas.openxmlformats.org/drawingml/2006/main" rot="5400000" flipH="1" flipV="1">
            <a:off x="3708874" y="3372745"/>
            <a:ext cx="133580" cy="736953"/>
          </a:xfrm>
          <a:prstGeom xmlns:a="http://schemas.openxmlformats.org/drawingml/2006/main" prst="curvedConnector3">
            <a:avLst>
              <a:gd name="adj1" fmla="val -11800"/>
            </a:avLst>
          </a:prstGeom>
          <a:ln xmlns:a="http://schemas.openxmlformats.org/drawingml/2006/main">
            <a:solidFill>
              <a:srgbClr val="215F9A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88" name="Oval 187">
            <a:extLst xmlns:a="http://schemas.openxmlformats.org/drawingml/2006/main">
              <a:ext uri="{FF2B5EF4-FFF2-40B4-BE49-F238E27FC236}">
                <a16:creationId xmlns:a16="http://schemas.microsoft.com/office/drawing/2014/main" id="{910A034A-D9DD-9E69-D6FF-72F77F9C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0999" y="2916131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75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73" name="Connector: Curved 188"/>
          <p:cNvCxnSpPr>
            <a:stCxn xmlns:a="http://schemas.openxmlformats.org/drawingml/2006/main" id="186" idx="7"/>
            <a:endCxn xmlns:a="http://schemas.openxmlformats.org/drawingml/2006/main" id="188" idx="2"/>
          </p:cNvCxnSpPr>
          <p:nvPr/>
        </p:nvCxnSpPr>
        <p:spPr>
          <a:xfrm xmlns:a="http://schemas.openxmlformats.org/drawingml/2006/main" rot="5400000" flipH="1" flipV="1">
            <a:off x="4215493" y="2961853"/>
            <a:ext cx="572647" cy="618365"/>
          </a:xfrm>
          <a:prstGeom xmlns:a="http://schemas.openxmlformats.org/drawingml/2006/main" prst="curvedConnector2">
            <a:avLst/>
          </a:prstGeom>
          <a:ln xmlns:a="http://schemas.openxmlformats.org/drawingml/2006/main">
            <a:solidFill>
              <a:srgbClr val="3B7D23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8" name="TextBox 177">
            <a:extLst xmlns:a="http://schemas.openxmlformats.org/drawingml/2006/main">
              <a:ext uri="{FF2B5EF4-FFF2-40B4-BE49-F238E27FC236}">
                <a16:creationId xmlns:a16="http://schemas.microsoft.com/office/drawing/2014/main" id="{55C82DF8-B22B-8804-1C79-7B8BFCB9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1741" y="4919612"/>
            <a:ext cx="239283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Stop when </a:t>
            </a:r>
            <a14:m xmlns:a14="http://schemas.microsoft.com/office/drawing/2010/main">
              <m:oMathPara xmlns:m="http://schemas.openxmlformats.org/officeDocument/2006/math">
                <m:oMath>
                  <m:d>
                    <m:dPr>
                      <m:begChr m:val="‖"/>
                      <m:endChr m:val="‖"/>
                      <m:grow m:val="off"/>
                    </m:dPr>
                    <m:e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grow m:val="off"/>
                        </m:dPr>
                        <m:e>
                          <m:r>
                            <a:rPr xmlns:a="http://schemas.openxmlformats.org/drawingml/2006/main"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</m:d>
                    </m:e>
                  </m:d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≤</m:t>
                  </m:r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𝜀</m:t>
                  </m:r>
                </m:oMath>
              </m:oMathPara>
            </a14:m>
          </a:p>
        </p:txBody>
      </p:sp>
      <p:cxnSp>
        <p:nvCxnSpPr>
          <p:cNvPr id="275" name="Connector: Curved 180"/>
          <p:cNvCxnSpPr>
            <a:stCxn xmlns:a="http://schemas.openxmlformats.org/drawingml/2006/main" id="188" idx="6"/>
            <a:endCxn xmlns:a="http://schemas.openxmlformats.org/drawingml/2006/main" id="182" idx="0"/>
          </p:cNvCxnSpPr>
          <p:nvPr/>
        </p:nvCxnSpPr>
        <p:spPr>
          <a:xfrm xmlns:a="http://schemas.openxmlformats.org/drawingml/2006/main" rot="0" flipH="0" flipV="0">
            <a:off x="4948159" y="2984711"/>
            <a:ext cx="380042" cy="191291"/>
          </a:xfrm>
          <a:prstGeom xmlns:a="http://schemas.openxmlformats.org/drawingml/2006/main" prst="curvedConnector2">
            <a:avLst/>
          </a:prstGeom>
          <a:ln xmlns:a="http://schemas.openxmlformats.org/drawingml/2006/main">
            <a:solidFill>
              <a:srgbClr val="215F9A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82" name="Oval 181">
            <a:extLst xmlns:a="http://schemas.openxmlformats.org/drawingml/2006/main">
              <a:ext uri="{FF2B5EF4-FFF2-40B4-BE49-F238E27FC236}">
                <a16:creationId xmlns:a16="http://schemas.microsoft.com/office/drawing/2014/main" id="{39EE87F2-E14B-C74A-9C59-D6D3CEB1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7524" y="3176002"/>
            <a:ext cx="101353" cy="1013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F9A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3" name="Oval 182">
            <a:extLst xmlns:a="http://schemas.openxmlformats.org/drawingml/2006/main">
              <a:ext uri="{FF2B5EF4-FFF2-40B4-BE49-F238E27FC236}">
                <a16:creationId xmlns:a16="http://schemas.microsoft.com/office/drawing/2014/main" id="{EEF2416B-9A32-5FDA-8505-8EDA407B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3386" y="3506455"/>
            <a:ext cx="106099" cy="106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D23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78" name="Connector: Curved 183"/>
          <p:cNvCxnSpPr>
            <a:stCxn xmlns:a="http://schemas.openxmlformats.org/drawingml/2006/main" id="182" idx="4"/>
            <a:endCxn xmlns:a="http://schemas.openxmlformats.org/drawingml/2006/main" id="183" idx="0"/>
          </p:cNvCxnSpPr>
          <p:nvPr/>
        </p:nvCxnSpPr>
        <p:spPr>
          <a:xfrm xmlns:a="http://schemas.openxmlformats.org/drawingml/2006/main" rot="5400000" flipH="0" flipV="0">
            <a:off x="5102769" y="3281023"/>
            <a:ext cx="229100" cy="22176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>
            <a:solidFill>
              <a:srgbClr val="3B7D23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20" name="Rectangle 219">
            <a:extLst xmlns:a="http://schemas.openxmlformats.org/drawingml/2006/main">
              <a:ext uri="{FF2B5EF4-FFF2-40B4-BE49-F238E27FC236}">
                <a16:creationId xmlns:a16="http://schemas.microsoft.com/office/drawing/2014/main" id="{AF61132C-4F8C-AACB-E88B-5AC8A145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0663" y="2154929"/>
            <a:ext cx="1653083" cy="1653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accent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2" name="Rectangle 221">
            <a:extLst xmlns:a="http://schemas.openxmlformats.org/drawingml/2006/main">
              <a:ext uri="{FF2B5EF4-FFF2-40B4-BE49-F238E27FC236}">
                <a16:creationId xmlns:a16="http://schemas.microsoft.com/office/drawing/2014/main" id="{55D85FB9-477B-442F-92E5-5568493F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7385" y="2958274"/>
            <a:ext cx="1096361" cy="1096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4" name="Rectangle 223">
            <a:extLst xmlns:a="http://schemas.openxmlformats.org/drawingml/2006/main">
              <a:ext uri="{FF2B5EF4-FFF2-40B4-BE49-F238E27FC236}">
                <a16:creationId xmlns:a16="http://schemas.microsoft.com/office/drawing/2014/main" id="{85E2723E-3D19-9D80-544E-F803490E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1207" y="3246448"/>
            <a:ext cx="480356" cy="480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9" name="Oval 228">
            <a:extLst xmlns:a="http://schemas.openxmlformats.org/drawingml/2006/main">
              <a:ext uri="{FF2B5EF4-FFF2-40B4-BE49-F238E27FC236}">
                <a16:creationId xmlns:a16="http://schemas.microsoft.com/office/drawing/2014/main" id="{4706B328-5FF5-367E-C109-69625456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222" y="3212050"/>
            <a:ext cx="106099" cy="106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D23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1" name="Oval 230">
            <a:extLst xmlns:a="http://schemas.openxmlformats.org/drawingml/2006/main">
              <a:ext uri="{FF2B5EF4-FFF2-40B4-BE49-F238E27FC236}">
                <a16:creationId xmlns:a16="http://schemas.microsoft.com/office/drawing/2014/main" id="{D562AADF-9171-9050-D33E-2CE5B29B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0322" y="3433527"/>
            <a:ext cx="101353" cy="1013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F9A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9" name="Oval 248">
            <a:extLst xmlns:a="http://schemas.openxmlformats.org/drawingml/2006/main">
              <a:ext uri="{FF2B5EF4-FFF2-40B4-BE49-F238E27FC236}">
                <a16:creationId xmlns:a16="http://schemas.microsoft.com/office/drawing/2014/main" id="{EAB4A646-FB59-4857-3688-94AE086B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7204" y="3145852"/>
            <a:ext cx="60299" cy="602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F9A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1" name="Oval 250">
            <a:extLst xmlns:a="http://schemas.openxmlformats.org/drawingml/2006/main">
              <a:ext uri="{FF2B5EF4-FFF2-40B4-BE49-F238E27FC236}">
                <a16:creationId xmlns:a16="http://schemas.microsoft.com/office/drawing/2014/main" id="{7A1A201E-E804-AD21-0C4F-1E2D649E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8815" y="3220874"/>
            <a:ext cx="55430" cy="55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D23"/>
          </a:solidFill>
          <a:effectLst xmlns:a="http://schemas.openxmlformats.org/drawingml/2006/main"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86" name="Connector: Curved 251"/>
          <p:cNvCxnSpPr>
            <a:stCxn xmlns:a="http://schemas.openxmlformats.org/drawingml/2006/main" id="183" idx="2"/>
            <a:endCxn xmlns:a="http://schemas.openxmlformats.org/drawingml/2006/main" id="231" idx="5"/>
          </p:cNvCxnSpPr>
          <p:nvPr/>
        </p:nvCxnSpPr>
        <p:spPr>
          <a:xfrm xmlns:a="http://schemas.openxmlformats.org/drawingml/2006/main" rot="10800000" flipH="0" flipV="0">
            <a:off x="4846832" y="3520037"/>
            <a:ext cx="206554" cy="39468"/>
          </a:xfrm>
          <a:prstGeom xmlns:a="http://schemas.openxmlformats.org/drawingml/2006/main" prst="curvedConnector2">
            <a:avLst/>
          </a:prstGeom>
          <a:ln xmlns:a="http://schemas.openxmlformats.org/drawingml/2006/main" w="9525">
            <a:solidFill>
              <a:srgbClr val="215F9A"/>
            </a:solidFill>
            <a:headEnd type="none" w="med" len="med"/>
            <a:tailEnd type="non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7" name="Connector: Curved 254"/>
          <p:cNvCxnSpPr>
            <a:stCxn xmlns:a="http://schemas.openxmlformats.org/drawingml/2006/main" id="231" idx="1"/>
            <a:endCxn xmlns:a="http://schemas.openxmlformats.org/drawingml/2006/main" id="229" idx="3"/>
          </p:cNvCxnSpPr>
          <p:nvPr/>
        </p:nvCxnSpPr>
        <p:spPr>
          <a:xfrm xmlns:a="http://schemas.openxmlformats.org/drawingml/2006/main" rot="16200000" flipH="0" flipV="1">
            <a:off x="4666584" y="3339788"/>
            <a:ext cx="145759" cy="7140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rgbClr val="3B7D23"/>
            </a:solidFill>
            <a:headEnd type="none" w="med" len="med"/>
            <a:tailEnd type="non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59" name="TextBox 258">
            <a:extLst xmlns:a="http://schemas.openxmlformats.org/drawingml/2006/main">
              <a:ext uri="{FF2B5EF4-FFF2-40B4-BE49-F238E27FC236}">
                <a16:creationId xmlns:a16="http://schemas.microsoft.com/office/drawing/2014/main" id="{5B13B6C0-0934-112E-52D6-99B34128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459" y="1543242"/>
            <a:ext cx="355424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</a:rPr>
              <a:t>Repeat LALM/Classical Update</a:t>
            </a:r>
          </a:p>
        </p:txBody>
      </p:sp>
      <p:sp>
        <p:nvSpPr>
          <p:cNvPr id="262" name="Rectangle 261">
            <a:extLst xmlns:a="http://schemas.openxmlformats.org/drawingml/2006/main">
              <a:ext uri="{FF2B5EF4-FFF2-40B4-BE49-F238E27FC236}">
                <a16:creationId xmlns:a16="http://schemas.microsoft.com/office/drawing/2014/main" id="{48EE2B50-C5CD-D1C2-9E1C-A18C7D3F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0246" y="3034598"/>
            <a:ext cx="278666" cy="278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90" name="Connector: Curved 262"/>
          <p:cNvCxnSpPr>
            <a:stCxn xmlns:a="http://schemas.openxmlformats.org/drawingml/2006/main" id="249" idx="2"/>
            <a:endCxn xmlns:a="http://schemas.openxmlformats.org/drawingml/2006/main" id="229" idx="7"/>
          </p:cNvCxnSpPr>
          <p:nvPr/>
        </p:nvCxnSpPr>
        <p:spPr>
          <a:xfrm xmlns:a="http://schemas.openxmlformats.org/drawingml/2006/main" rot="10800000" flipH="0" flipV="1">
            <a:off x="4778784" y="3176002"/>
            <a:ext cx="78421" cy="51586"/>
          </a:xfrm>
          <a:prstGeom xmlns:a="http://schemas.openxmlformats.org/drawingml/2006/main" prst="curvedConnector2">
            <a:avLst/>
          </a:prstGeom>
          <a:ln xmlns:a="http://schemas.openxmlformats.org/drawingml/2006/main" w="9525">
            <a:solidFill>
              <a:srgbClr val="215F9A"/>
            </a:solidFill>
            <a:headEnd type="none" w="med" len="med"/>
            <a:tailEnd type="non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91" name="Connector: Curved 265"/>
          <p:cNvCxnSpPr>
            <a:stCxn xmlns:a="http://schemas.openxmlformats.org/drawingml/2006/main" id="251" idx="2"/>
            <a:endCxn xmlns:a="http://schemas.openxmlformats.org/drawingml/2006/main" id="249" idx="4"/>
          </p:cNvCxnSpPr>
          <p:nvPr/>
        </p:nvCxnSpPr>
        <p:spPr>
          <a:xfrm xmlns:a="http://schemas.openxmlformats.org/drawingml/2006/main" rot="10800000" flipH="0" flipV="0">
            <a:off x="4887355" y="3206151"/>
            <a:ext cx="51461" cy="42438"/>
          </a:xfrm>
          <a:prstGeom xmlns:a="http://schemas.openxmlformats.org/drawingml/2006/main" prst="curvedConnector2">
            <a:avLst/>
          </a:prstGeom>
          <a:ln xmlns:a="http://schemas.openxmlformats.org/drawingml/2006/main" w="9525">
            <a:solidFill>
              <a:srgbClr val="3B7D23"/>
            </a:solidFill>
            <a:headEnd type="none" w="med" len="med"/>
            <a:tailEnd type="non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C4018279-08CB-6B95-76B7-AF139D10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7612" y="2297804"/>
            <a:ext cx="55430" cy="55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D23"/>
          </a:solidFill>
          <a:effectLst xmlns:a="http://schemas.openxmlformats.org/drawingml/2006/main"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8E783A10-AFEE-9476-E994-6A256BBD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2277" y="2668255"/>
            <a:ext cx="106099" cy="106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D23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44DD4753-2E5F-8363-720E-FA306E32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88485" y="3044499"/>
            <a:ext cx="101353" cy="1013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F9A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DCE528A-BEE6-CAC5-A957-CF6743BE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4974" y="2140186"/>
            <a:ext cx="28719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Converged solution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06D0141-0E78-0F2F-B9CE-65A8E43E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4973" y="2547296"/>
            <a:ext cx="28719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Classically refined solution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54121FC-6A5C-251D-EEF5-B49F910E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4973" y="2906972"/>
            <a:ext cx="28719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QHD coarse solution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A5E7FA70-408A-093A-FAB1-D1B578C3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5374" y="3433527"/>
            <a:ext cx="207573" cy="207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D5E311A-3EDF-3641-E23A-D6194C98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4973" y="3335371"/>
            <a:ext cx="28719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Localized QHD bounds</a:t>
            </a:r>
          </a:p>
        </p:txBody>
      </p:sp>
    </p:spTree>
    <p:extLst>
      <p:ext uri="{BB962C8B-B14F-4D97-AF65-F5344CB8AC3E}">
        <p14:creationId xmlns:p14="http://schemas.microsoft.com/office/powerpoint/2010/main" val="118553605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2026-08-04T03:04:19.0810000Z</dcterms:created>
  <dcterms:modified xsi:type="dcterms:W3CDTF">2026-08-04T03:04:19.0820000Z</dcterms:modified>
</coreProperties>
</file>